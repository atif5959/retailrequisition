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DC2626"/>
          </a:solidFill>
          <a:ln/>
        </p:spPr>
      </p:sp>
      <p:sp>
        <p:nvSpPr>
          <p:cNvPr id="3" name="Shape 1"/>
          <p:cNvSpPr/>
          <p:nvPr/>
        </p:nvSpPr>
        <p:spPr>
          <a:xfrm>
            <a:off x="502920" y="1463040"/>
            <a:ext cx="822960" cy="822960"/>
          </a:xfrm>
          <a:prstGeom prst="roundRect">
            <a:avLst>
              <a:gd name="adj" fmla="val 13333"/>
            </a:avLst>
          </a:prstGeom>
          <a:solidFill>
            <a:srgbClr val="DC2626"/>
          </a:solidFill>
          <a:ln w="12700">
            <a:solidFill>
              <a:srgbClr val="DC2626"/>
            </a:solidFill>
            <a:prstDash val="solid"/>
          </a:ln>
        </p:spPr>
      </p:sp>
      <p:sp>
        <p:nvSpPr>
          <p:cNvPr id="4" name="Text 2"/>
          <p:cNvSpPr/>
          <p:nvPr/>
        </p:nvSpPr>
        <p:spPr>
          <a:xfrm>
            <a:off x="502920" y="1463040"/>
            <a:ext cx="822960" cy="822960"/>
          </a:xfrm>
          <a:prstGeom prst="rect">
            <a:avLst/>
          </a:prstGeom>
          <a:noFill/>
          <a:ln/>
        </p:spPr>
        <p:txBody>
          <a:bodyPr wrap="square" rtlCol="0" anchor="ctr"/>
          <a:lstStyle/>
          <a:p>
            <a:pPr algn="ctr" indent="0" marL="0">
              <a:buNone/>
            </a:pPr>
            <a:r>
              <a:rPr lang="en-US" sz="3200" b="1" dirty="0">
                <a:solidFill>
                  <a:srgbClr val="FFFFFF"/>
                </a:solidFill>
              </a:rPr>
              <a:t>R</a:t>
            </a:r>
            <a:endParaRPr lang="en-US" sz="3200" dirty="0"/>
          </a:p>
        </p:txBody>
      </p:sp>
      <p:sp>
        <p:nvSpPr>
          <p:cNvPr id="5" name="Text 3"/>
          <p:cNvSpPr/>
          <p:nvPr/>
        </p:nvSpPr>
        <p:spPr>
          <a:xfrm>
            <a:off x="457200" y="2468880"/>
            <a:ext cx="11274552" cy="1463040"/>
          </a:xfrm>
          <a:prstGeom prst="rect">
            <a:avLst/>
          </a:prstGeom>
          <a:noFill/>
          <a:ln/>
        </p:spPr>
        <p:txBody>
          <a:bodyPr wrap="square" rtlCol="0" anchor="ctr"/>
          <a:lstStyle/>
          <a:p>
            <a:pPr algn="ctr" indent="0" marL="0">
              <a:buNone/>
            </a:pPr>
            <a:r>
              <a:rPr lang="en-US" sz="4400" b="1" spc="-100" kern="0" dirty="0">
                <a:solidFill>
                  <a:srgbClr val="FFFFFF"/>
                </a:solidFill>
              </a:rPr>
              <a:t>Stock Requests, Simplified.</a:t>
            </a:r>
            <a:endParaRPr lang="en-US" sz="4400" dirty="0"/>
          </a:p>
        </p:txBody>
      </p:sp>
      <p:sp>
        <p:nvSpPr>
          <p:cNvPr id="6" name="Shape 4"/>
          <p:cNvSpPr/>
          <p:nvPr/>
        </p:nvSpPr>
        <p:spPr>
          <a:xfrm>
            <a:off x="5029200" y="3749040"/>
            <a:ext cx="2103120" cy="54864"/>
          </a:xfrm>
          <a:prstGeom prst="rect">
            <a:avLst/>
          </a:prstGeom>
          <a:solidFill>
            <a:srgbClr val="DC2626"/>
          </a:solidFill>
          <a:ln w="12700">
            <a:solidFill>
              <a:srgbClr val="DC2626"/>
            </a:solidFill>
            <a:prstDash val="solid"/>
          </a:ln>
        </p:spPr>
      </p:sp>
      <p:sp>
        <p:nvSpPr>
          <p:cNvPr id="7" name="Text 5"/>
          <p:cNvSpPr/>
          <p:nvPr/>
        </p:nvSpPr>
        <p:spPr>
          <a:xfrm>
            <a:off x="1371600" y="3931920"/>
            <a:ext cx="9445752" cy="914400"/>
          </a:xfrm>
          <a:prstGeom prst="rect">
            <a:avLst/>
          </a:prstGeom>
          <a:noFill/>
          <a:ln/>
        </p:spPr>
        <p:txBody>
          <a:bodyPr wrap="square" rtlCol="0" anchor="ctr"/>
          <a:lstStyle/>
          <a:p>
            <a:pPr algn="ctr" indent="0" marL="0">
              <a:buNone/>
            </a:pPr>
            <a:r>
              <a:rPr lang="en-US" sz="1400" dirty="0">
                <a:solidFill>
                  <a:srgbClr val="94A3B8"/>
                </a:solidFill>
              </a:rPr>
              <a:t>A fully digital platform for submitting, tracking, and managing retail stock requisitions — from field employees to head-office admins, with real-time status updates and rich export tools.</a:t>
            </a:r>
            <a:endParaRPr lang="en-US" sz="1400" dirty="0"/>
          </a:p>
        </p:txBody>
      </p:sp>
      <p:sp>
        <p:nvSpPr>
          <p:cNvPr id="8" name="Shape 6"/>
          <p:cNvSpPr/>
          <p:nvPr/>
        </p:nvSpPr>
        <p:spPr>
          <a:xfrm>
            <a:off x="1645920" y="5074920"/>
            <a:ext cx="1645920" cy="347472"/>
          </a:xfrm>
          <a:prstGeom prst="roundRect">
            <a:avLst>
              <a:gd name="adj" fmla="val 50000"/>
            </a:avLst>
          </a:prstGeom>
          <a:solidFill>
            <a:srgbClr val="1E293B"/>
          </a:solidFill>
          <a:ln w="12700">
            <a:solidFill>
              <a:srgbClr val="334155"/>
            </a:solidFill>
            <a:prstDash val="solid"/>
          </a:ln>
        </p:spPr>
      </p:sp>
      <p:sp>
        <p:nvSpPr>
          <p:cNvPr id="9" name="Text 7"/>
          <p:cNvSpPr/>
          <p:nvPr/>
        </p:nvSpPr>
        <p:spPr>
          <a:xfrm>
            <a:off x="1645920" y="5074920"/>
            <a:ext cx="1645920" cy="347472"/>
          </a:xfrm>
          <a:prstGeom prst="rect">
            <a:avLst/>
          </a:prstGeom>
          <a:noFill/>
          <a:ln/>
        </p:spPr>
        <p:txBody>
          <a:bodyPr wrap="square" rtlCol="0" anchor="ctr"/>
          <a:lstStyle/>
          <a:p>
            <a:pPr algn="ctr" indent="0" marL="0">
              <a:buNone/>
            </a:pPr>
            <a:r>
              <a:rPr lang="en-US" sz="1000" b="1" dirty="0">
                <a:solidFill>
                  <a:srgbClr val="FCA5A5"/>
                </a:solidFill>
              </a:rPr>
              <a:t>Next.js 16</a:t>
            </a:r>
            <a:endParaRPr lang="en-US" sz="1000" dirty="0"/>
          </a:p>
        </p:txBody>
      </p:sp>
      <p:sp>
        <p:nvSpPr>
          <p:cNvPr id="10" name="Shape 8"/>
          <p:cNvSpPr/>
          <p:nvPr/>
        </p:nvSpPr>
        <p:spPr>
          <a:xfrm>
            <a:off x="3456432" y="5074920"/>
            <a:ext cx="1426464" cy="347472"/>
          </a:xfrm>
          <a:prstGeom prst="roundRect">
            <a:avLst>
              <a:gd name="adj" fmla="val 50000"/>
            </a:avLst>
          </a:prstGeom>
          <a:solidFill>
            <a:srgbClr val="1E293B"/>
          </a:solidFill>
          <a:ln w="12700">
            <a:solidFill>
              <a:srgbClr val="334155"/>
            </a:solidFill>
            <a:prstDash val="solid"/>
          </a:ln>
        </p:spPr>
      </p:sp>
      <p:sp>
        <p:nvSpPr>
          <p:cNvPr id="11" name="Text 9"/>
          <p:cNvSpPr/>
          <p:nvPr/>
        </p:nvSpPr>
        <p:spPr>
          <a:xfrm>
            <a:off x="3456432" y="5074920"/>
            <a:ext cx="1426464" cy="347472"/>
          </a:xfrm>
          <a:prstGeom prst="rect">
            <a:avLst/>
          </a:prstGeom>
          <a:noFill/>
          <a:ln/>
        </p:spPr>
        <p:txBody>
          <a:bodyPr wrap="square" rtlCol="0" anchor="ctr"/>
          <a:lstStyle/>
          <a:p>
            <a:pPr algn="ctr" indent="0" marL="0">
              <a:buNone/>
            </a:pPr>
            <a:r>
              <a:rPr lang="en-US" sz="1000" b="1" dirty="0">
                <a:solidFill>
                  <a:srgbClr val="FCA5A5"/>
                </a:solidFill>
              </a:rPr>
              <a:t>Supabase</a:t>
            </a:r>
            <a:endParaRPr lang="en-US" sz="1000" dirty="0"/>
          </a:p>
        </p:txBody>
      </p:sp>
      <p:sp>
        <p:nvSpPr>
          <p:cNvPr id="12" name="Shape 10"/>
          <p:cNvSpPr/>
          <p:nvPr/>
        </p:nvSpPr>
        <p:spPr>
          <a:xfrm>
            <a:off x="5047488" y="5074920"/>
            <a:ext cx="2414016" cy="347472"/>
          </a:xfrm>
          <a:prstGeom prst="roundRect">
            <a:avLst>
              <a:gd name="adj" fmla="val 50000"/>
            </a:avLst>
          </a:prstGeom>
          <a:solidFill>
            <a:srgbClr val="1E293B"/>
          </a:solidFill>
          <a:ln w="12700">
            <a:solidFill>
              <a:srgbClr val="334155"/>
            </a:solidFill>
            <a:prstDash val="solid"/>
          </a:ln>
        </p:spPr>
      </p:sp>
      <p:sp>
        <p:nvSpPr>
          <p:cNvPr id="13" name="Text 11"/>
          <p:cNvSpPr/>
          <p:nvPr/>
        </p:nvSpPr>
        <p:spPr>
          <a:xfrm>
            <a:off x="5047488" y="5074920"/>
            <a:ext cx="2414016" cy="347472"/>
          </a:xfrm>
          <a:prstGeom prst="rect">
            <a:avLst/>
          </a:prstGeom>
          <a:noFill/>
          <a:ln/>
        </p:spPr>
        <p:txBody>
          <a:bodyPr wrap="square" rtlCol="0" anchor="ctr"/>
          <a:lstStyle/>
          <a:p>
            <a:pPr algn="ctr" indent="0" marL="0">
              <a:buNone/>
            </a:pPr>
            <a:r>
              <a:rPr lang="en-US" sz="1000" b="1" dirty="0">
                <a:solidFill>
                  <a:srgbClr val="FCA5A5"/>
                </a:solidFill>
              </a:rPr>
              <a:t>Role-Based Access</a:t>
            </a:r>
            <a:endParaRPr lang="en-US" sz="1000" dirty="0"/>
          </a:p>
        </p:txBody>
      </p:sp>
      <p:sp>
        <p:nvSpPr>
          <p:cNvPr id="14" name="Shape 12"/>
          <p:cNvSpPr/>
          <p:nvPr/>
        </p:nvSpPr>
        <p:spPr>
          <a:xfrm>
            <a:off x="7626096" y="5074920"/>
            <a:ext cx="2633472" cy="347472"/>
          </a:xfrm>
          <a:prstGeom prst="roundRect">
            <a:avLst>
              <a:gd name="adj" fmla="val 50000"/>
            </a:avLst>
          </a:prstGeom>
          <a:solidFill>
            <a:srgbClr val="1E293B"/>
          </a:solidFill>
          <a:ln w="12700">
            <a:solidFill>
              <a:srgbClr val="334155"/>
            </a:solidFill>
            <a:prstDash val="solid"/>
          </a:ln>
        </p:spPr>
      </p:sp>
      <p:sp>
        <p:nvSpPr>
          <p:cNvPr id="15" name="Text 13"/>
          <p:cNvSpPr/>
          <p:nvPr/>
        </p:nvSpPr>
        <p:spPr>
          <a:xfrm>
            <a:off x="7626096" y="5074920"/>
            <a:ext cx="2633472" cy="347472"/>
          </a:xfrm>
          <a:prstGeom prst="rect">
            <a:avLst/>
          </a:prstGeom>
          <a:noFill/>
          <a:ln/>
        </p:spPr>
        <p:txBody>
          <a:bodyPr wrap="square" rtlCol="0" anchor="ctr"/>
          <a:lstStyle/>
          <a:p>
            <a:pPr algn="ctr" indent="0" marL="0">
              <a:buNone/>
            </a:pPr>
            <a:r>
              <a:rPr lang="en-US" sz="1000" b="1" dirty="0">
                <a:solidFill>
                  <a:srgbClr val="FCA5A5"/>
                </a:solidFill>
              </a:rPr>
              <a:t>Real-Time Dashboard</a:t>
            </a:r>
            <a:endParaRPr lang="en-US" sz="1000" dirty="0"/>
          </a:p>
        </p:txBody>
      </p:sp>
      <p:sp>
        <p:nvSpPr>
          <p:cNvPr id="16" name="Shape 14"/>
          <p:cNvSpPr/>
          <p:nvPr/>
        </p:nvSpPr>
        <p:spPr>
          <a:xfrm>
            <a:off x="10424160" y="5074920"/>
            <a:ext cx="2523744" cy="347472"/>
          </a:xfrm>
          <a:prstGeom prst="roundRect">
            <a:avLst>
              <a:gd name="adj" fmla="val 50000"/>
            </a:avLst>
          </a:prstGeom>
          <a:solidFill>
            <a:srgbClr val="1E293B"/>
          </a:solidFill>
          <a:ln w="12700">
            <a:solidFill>
              <a:srgbClr val="334155"/>
            </a:solidFill>
            <a:prstDash val="solid"/>
          </a:ln>
        </p:spPr>
      </p:sp>
      <p:sp>
        <p:nvSpPr>
          <p:cNvPr id="17" name="Text 15"/>
          <p:cNvSpPr/>
          <p:nvPr/>
        </p:nvSpPr>
        <p:spPr>
          <a:xfrm>
            <a:off x="10424160" y="5074920"/>
            <a:ext cx="2523744" cy="347472"/>
          </a:xfrm>
          <a:prstGeom prst="rect">
            <a:avLst/>
          </a:prstGeom>
          <a:noFill/>
          <a:ln/>
        </p:spPr>
        <p:txBody>
          <a:bodyPr wrap="square" rtlCol="0" anchor="ctr"/>
          <a:lstStyle/>
          <a:p>
            <a:pPr algn="ctr" indent="0" marL="0">
              <a:buNone/>
            </a:pPr>
            <a:r>
              <a:rPr lang="en-US" sz="1000" b="1" dirty="0">
                <a:solidFill>
                  <a:srgbClr val="FCA5A5"/>
                </a:solidFill>
              </a:rPr>
              <a:t>Excel &amp; CSV Export</a:t>
            </a:r>
            <a:endParaRPr lang="en-US" sz="1000" dirty="0"/>
          </a:p>
        </p:txBody>
      </p:sp>
      <p:sp>
        <p:nvSpPr>
          <p:cNvPr id="18" name="Text 16"/>
          <p:cNvSpPr/>
          <p:nvPr/>
        </p:nvSpPr>
        <p:spPr>
          <a:xfrm>
            <a:off x="457200" y="6400800"/>
            <a:ext cx="11274552" cy="274320"/>
          </a:xfrm>
          <a:prstGeom prst="rect">
            <a:avLst/>
          </a:prstGeom>
          <a:noFill/>
          <a:ln/>
        </p:spPr>
        <p:txBody>
          <a:bodyPr wrap="square" rtlCol="0" anchor="ctr"/>
          <a:lstStyle/>
          <a:p>
            <a:pPr algn="ctr" indent="0" marL="0">
              <a:buNone/>
            </a:pPr>
            <a:r>
              <a:rPr lang="en-US" sz="900" dirty="0">
                <a:solidFill>
                  <a:srgbClr val="334155"/>
                </a:solidFill>
              </a:rPr>
              <a:t>TCS Pakistan — Retail Requisition System</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DC2626"/>
        </a:solidFill>
      </p:bgPr>
    </p:bg>
    <p:spTree>
      <p:nvGrpSpPr>
        <p:cNvPr id="1" name=""/>
        <p:cNvGrpSpPr/>
        <p:nvPr/>
      </p:nvGrpSpPr>
      <p:grpSpPr>
        <a:xfrm>
          <a:off x="0" y="0"/>
          <a:ext cx="0" cy="0"/>
          <a:chOff x="0" y="0"/>
          <a:chExt cx="0" cy="0"/>
        </a:xfrm>
      </p:grpSpPr>
      <p:sp>
        <p:nvSpPr>
          <p:cNvPr id="2" name="Text 0"/>
          <p:cNvSpPr/>
          <p:nvPr/>
        </p:nvSpPr>
        <p:spPr>
          <a:xfrm>
            <a:off x="7772400" y="274320"/>
            <a:ext cx="4114800" cy="3657600"/>
          </a:xfrm>
          <a:prstGeom prst="rect">
            <a:avLst/>
          </a:prstGeom>
          <a:noFill/>
          <a:ln/>
        </p:spPr>
        <p:txBody>
          <a:bodyPr wrap="square" rtlCol="0" anchor="t"/>
          <a:lstStyle/>
          <a:p>
            <a:pPr algn="r" indent="0" marL="0">
              <a:buNone/>
            </a:pPr>
            <a:r>
              <a:rPr lang="en-US" sz="16000" b="1" dirty="0">
                <a:solidFill>
                  <a:srgbClr val="B91C1C"/>
                </a:solidFill>
              </a:rPr>
              <a:t>01</a:t>
            </a:r>
            <a:endParaRPr lang="en-US" sz="16000" dirty="0"/>
          </a:p>
        </p:txBody>
      </p:sp>
      <p:sp>
        <p:nvSpPr>
          <p:cNvPr id="3" name="Text 1"/>
          <p:cNvSpPr/>
          <p:nvPr/>
        </p:nvSpPr>
        <p:spPr>
          <a:xfrm>
            <a:off x="640080" y="2194560"/>
            <a:ext cx="7315200" cy="365760"/>
          </a:xfrm>
          <a:prstGeom prst="rect">
            <a:avLst/>
          </a:prstGeom>
          <a:noFill/>
          <a:ln/>
        </p:spPr>
        <p:txBody>
          <a:bodyPr wrap="square" rtlCol="0" anchor="ctr"/>
          <a:lstStyle/>
          <a:p>
            <a:pPr indent="0" marL="0">
              <a:buNone/>
            </a:pPr>
            <a:r>
              <a:rPr lang="en-US" sz="1100" b="1" spc="400" kern="0" dirty="0">
                <a:solidFill>
                  <a:srgbClr val="FCA5A5"/>
                </a:solidFill>
              </a:rPr>
              <a:t>SECTION</a:t>
            </a:r>
            <a:endParaRPr lang="en-US" sz="1100" dirty="0"/>
          </a:p>
        </p:txBody>
      </p:sp>
      <p:sp>
        <p:nvSpPr>
          <p:cNvPr id="4" name="Text 2"/>
          <p:cNvSpPr/>
          <p:nvPr/>
        </p:nvSpPr>
        <p:spPr>
          <a:xfrm>
            <a:off x="640080" y="2651760"/>
            <a:ext cx="8229600" cy="1280160"/>
          </a:xfrm>
          <a:prstGeom prst="rect">
            <a:avLst/>
          </a:prstGeom>
          <a:noFill/>
          <a:ln/>
        </p:spPr>
        <p:txBody>
          <a:bodyPr wrap="square" rtlCol="0" anchor="ctr"/>
          <a:lstStyle/>
          <a:p>
            <a:pPr indent="0" marL="0">
              <a:buNone/>
            </a:pPr>
            <a:r>
              <a:rPr lang="en-US" sz="4200" b="1" spc="-100" kern="0" dirty="0">
                <a:solidFill>
                  <a:srgbClr val="FFFFFF"/>
                </a:solidFill>
              </a:rPr>
              <a:t>Public Experience</a:t>
            </a:r>
            <a:endParaRPr lang="en-US" sz="4200" dirty="0"/>
          </a:p>
        </p:txBody>
      </p:sp>
      <p:sp>
        <p:nvSpPr>
          <p:cNvPr id="5" name="Shape 3"/>
          <p:cNvSpPr/>
          <p:nvPr/>
        </p:nvSpPr>
        <p:spPr>
          <a:xfrm>
            <a:off x="640080" y="4069080"/>
            <a:ext cx="1097280" cy="54864"/>
          </a:xfrm>
          <a:prstGeom prst="rect">
            <a:avLst/>
          </a:prstGeom>
          <a:solidFill>
            <a:srgbClr val="FFFFFF"/>
          </a:solidFill>
          <a:ln w="12700">
            <a:solidFill>
              <a:srgbClr val="FFFFFF"/>
            </a:solidFill>
            <a:prstDash val="solid"/>
          </a:ln>
        </p:spPr>
      </p:sp>
      <p:sp>
        <p:nvSpPr>
          <p:cNvPr id="6" name="Text 4"/>
          <p:cNvSpPr/>
          <p:nvPr/>
        </p:nvSpPr>
        <p:spPr>
          <a:xfrm>
            <a:off x="640080" y="4251960"/>
            <a:ext cx="8229600" cy="914400"/>
          </a:xfrm>
          <a:prstGeom prst="rect">
            <a:avLst/>
          </a:prstGeom>
          <a:noFill/>
          <a:ln/>
        </p:spPr>
        <p:txBody>
          <a:bodyPr wrap="square" rtlCol="0" anchor="ctr"/>
          <a:lstStyle/>
          <a:p>
            <a:pPr indent="0" marL="0">
              <a:buNone/>
            </a:pPr>
            <a:r>
              <a:rPr lang="en-US" sz="1500" dirty="0">
                <a:solidFill>
                  <a:srgbClr val="FEE2E2"/>
                </a:solidFill>
              </a:rPr>
              <a:t>The marketing landing page and requisition form — accessible to all TCS field employees without any login required.</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4663440" cy="6858000"/>
          </a:xfrm>
          <a:prstGeom prst="rect">
            <a:avLst/>
          </a:prstGeom>
          <a:solidFill>
            <a:srgbClr val="1E293B"/>
          </a:solidFill>
          <a:ln w="12700">
            <a:solidFill>
              <a:srgbClr val="1E293B"/>
            </a:solidFill>
            <a:prstDash val="solid"/>
          </a:ln>
        </p:spPr>
      </p:sp>
      <p:sp>
        <p:nvSpPr>
          <p:cNvPr id="3" name="Shape 1"/>
          <p:cNvSpPr/>
          <p:nvPr/>
        </p:nvSpPr>
        <p:spPr>
          <a:xfrm>
            <a:off x="0" y="0"/>
            <a:ext cx="64008" cy="6858000"/>
          </a:xfrm>
          <a:prstGeom prst="rect">
            <a:avLst/>
          </a:prstGeom>
          <a:solidFill>
            <a:srgbClr val="DC2626"/>
          </a:solidFill>
          <a:ln w="12700">
            <a:solidFill>
              <a:srgbClr val="DC2626"/>
            </a:solidFill>
            <a:prstDash val="solid"/>
          </a:ln>
        </p:spPr>
      </p:sp>
      <p:sp>
        <p:nvSpPr>
          <p:cNvPr id="4" name="Text 2"/>
          <p:cNvSpPr/>
          <p:nvPr/>
        </p:nvSpPr>
        <p:spPr>
          <a:xfrm>
            <a:off x="274320" y="502920"/>
            <a:ext cx="4206240" cy="274320"/>
          </a:xfrm>
          <a:prstGeom prst="rect">
            <a:avLst/>
          </a:prstGeom>
          <a:noFill/>
          <a:ln/>
        </p:spPr>
        <p:txBody>
          <a:bodyPr wrap="square" rtlCol="0" anchor="ctr"/>
          <a:lstStyle/>
          <a:p>
            <a:pPr indent="0" marL="0">
              <a:buNone/>
            </a:pPr>
            <a:r>
              <a:rPr lang="en-US" sz="900" b="1" spc="150" kern="0" dirty="0">
                <a:solidFill>
                  <a:srgbClr val="DC2626"/>
                </a:solidFill>
              </a:rPr>
              <a:t>01 / PUBLIC — HOME PAGE</a:t>
            </a:r>
            <a:endParaRPr lang="en-US" sz="900" dirty="0"/>
          </a:p>
        </p:txBody>
      </p:sp>
      <p:sp>
        <p:nvSpPr>
          <p:cNvPr id="5" name="Text 3"/>
          <p:cNvSpPr/>
          <p:nvPr/>
        </p:nvSpPr>
        <p:spPr>
          <a:xfrm>
            <a:off x="274320" y="868680"/>
            <a:ext cx="4114800" cy="1097280"/>
          </a:xfrm>
          <a:prstGeom prst="rect">
            <a:avLst/>
          </a:prstGeom>
          <a:noFill/>
          <a:ln/>
        </p:spPr>
        <p:txBody>
          <a:bodyPr wrap="square" rtlCol="0" anchor="ctr"/>
          <a:lstStyle/>
          <a:p>
            <a:pPr indent="0" marL="0">
              <a:buNone/>
            </a:pPr>
            <a:r>
              <a:rPr lang="en-US" sz="2200" b="1" spc="-50" kern="0" dirty="0">
                <a:solidFill>
                  <a:srgbClr val="FFFFFF"/>
                </a:solidFill>
              </a:rPr>
              <a:t>Landing Page &amp; Navigation</a:t>
            </a:r>
            <a:endParaRPr lang="en-US" sz="2200" dirty="0"/>
          </a:p>
        </p:txBody>
      </p:sp>
      <p:sp>
        <p:nvSpPr>
          <p:cNvPr id="6" name="Text 4"/>
          <p:cNvSpPr/>
          <p:nvPr/>
        </p:nvSpPr>
        <p:spPr>
          <a:xfrm>
            <a:off x="274320" y="2057400"/>
            <a:ext cx="4114800" cy="1097280"/>
          </a:xfrm>
          <a:prstGeom prst="rect">
            <a:avLst/>
          </a:prstGeom>
          <a:noFill/>
          <a:ln/>
        </p:spPr>
        <p:txBody>
          <a:bodyPr wrap="square" rtlCol="0" anchor="ctr"/>
          <a:lstStyle/>
          <a:p>
            <a:pPr indent="0" marL="0">
              <a:lnSpc>
                <a:spcPct val="140000"/>
              </a:lnSpc>
              <a:buNone/>
            </a:pPr>
            <a:r>
              <a:rPr lang="en-US" sz="1100" dirty="0">
                <a:solidFill>
                  <a:srgbClr val="94A3B8"/>
                </a:solidFill>
              </a:rPr>
              <a:t>The public home page introduces the system to all TCS staff. It highlights key benefits, links to the requisition form, and provides a route to the admin dashboard for authorised users.</a:t>
            </a:r>
            <a:endParaRPr lang="en-US" sz="1100" dirty="0"/>
          </a:p>
        </p:txBody>
      </p:sp>
      <p:sp>
        <p:nvSpPr>
          <p:cNvPr id="7" name="Text 5"/>
          <p:cNvSpPr/>
          <p:nvPr/>
        </p:nvSpPr>
        <p:spPr>
          <a:xfrm>
            <a:off x="274320" y="3246120"/>
            <a:ext cx="4114800" cy="3200400"/>
          </a:xfrm>
          <a:prstGeom prst="rect">
            <a:avLst/>
          </a:prstGeom>
          <a:noFill/>
          <a:ln/>
        </p:spPr>
        <p:txBody>
          <a:bodyPr wrap="square" rtlCol="0" anchor="ctr"/>
          <a:lstStyle/>
          <a:p>
            <a:pPr marL="190500" indent="-190500">
              <a:lnSpc>
                <a:spcPct val="130000"/>
              </a:lnSpc>
              <a:spcAft>
                <a:spcPts val="400"/>
              </a:spcAft>
              <a:buSzPct val="100000"/>
              <a:buFont typeface="+mj-lt"/>
              <a:buAutoNum type="arabicPeriod" startAt="1"/>
            </a:pPr>
            <a:r>
              <a:rPr lang="en-US" sz="1100" dirty="0">
                <a:solidFill>
                  <a:srgbClr val="CBD5E1"/>
                </a:solidFill>
              </a:rPr>
              <a:t>Clear call-to-action to open the requisition form</a:t>
            </a:r>
            <a:endParaRPr lang="en-US" sz="1100" dirty="0"/>
          </a:p>
          <a:p>
            <a:pPr marL="190500" indent="-190500">
              <a:lnSpc>
                <a:spcPct val="130000"/>
              </a:lnSpc>
              <a:spcAft>
                <a:spcPts val="400"/>
              </a:spcAft>
              <a:buSzPct val="100000"/>
              <a:buFont typeface="+mj-lt"/>
              <a:buAutoNum type="arabicPeriod" startAt="1"/>
            </a:pPr>
            <a:r>
              <a:rPr lang="en-US" sz="1100" dirty="0">
                <a:solidFill>
                  <a:srgbClr val="CBD5E1"/>
                </a:solidFill>
              </a:rPr>
              <a:t>Sticky navigation with Admin Login access</a:t>
            </a:r>
            <a:endParaRPr lang="en-US" sz="1100" dirty="0"/>
          </a:p>
          <a:p>
            <a:pPr marL="190500" indent="-190500">
              <a:lnSpc>
                <a:spcPct val="130000"/>
              </a:lnSpc>
              <a:spcAft>
                <a:spcPts val="400"/>
              </a:spcAft>
              <a:buSzPct val="100000"/>
              <a:buFont typeface="+mj-lt"/>
              <a:buAutoNum type="arabicPeriod" startAt="1"/>
            </a:pPr>
            <a:r>
              <a:rPr lang="en-US" sz="1100" dirty="0">
                <a:solidFill>
                  <a:srgbClr val="CBD5E1"/>
                </a:solidFill>
              </a:rPr>
              <a:t>SEO-optimised with full Open Graph metadata</a:t>
            </a:r>
            <a:endParaRPr lang="en-US" sz="1100" dirty="0"/>
          </a:p>
          <a:p>
            <a:pPr marL="190500" indent="-190500">
              <a:lnSpc>
                <a:spcPct val="130000"/>
              </a:lnSpc>
              <a:spcAft>
                <a:spcPts val="400"/>
              </a:spcAft>
              <a:buSzPct val="100000"/>
              <a:buFont typeface="+mj-lt"/>
              <a:buAutoNum type="arabicPeriod" startAt="1"/>
            </a:pPr>
            <a:r>
              <a:rPr lang="en-US" sz="1100" dirty="0">
                <a:solidFill>
                  <a:srgbClr val="CBD5E1"/>
                </a:solidFill>
              </a:rPr>
              <a:t>Responsive design — works on mobile and desktop</a:t>
            </a:r>
            <a:endParaRPr lang="en-US" sz="1100" dirty="0"/>
          </a:p>
        </p:txBody>
      </p:sp>
      <p:pic>
        <p:nvPicPr>
          <p:cNvPr id="8" name="Image 0" descr="/Users/hajajkhan/Downloads/RetailRequisition/presentation/screenshots/01_home_top.png">    </p:cNvPr>
          <p:cNvPicPr>
            <a:picLocks noChangeAspect="1"/>
          </p:cNvPicPr>
          <p:nvPr/>
        </p:nvPicPr>
        <p:blipFill>
          <a:blip r:embed="rId1"/>
          <a:stretch>
            <a:fillRect/>
          </a:stretch>
        </p:blipFill>
        <p:spPr>
          <a:xfrm>
            <a:off x="4846320" y="274320"/>
            <a:ext cx="7132320" cy="6309360"/>
          </a:xfrm>
          <a:prstGeom prst="rect">
            <a:avLst/>
          </a:prstGeom>
        </p:spPr>
      </p:pic>
      <p:sp>
        <p:nvSpPr>
          <p:cNvPr id="9" name="Text 6"/>
          <p:cNvSpPr/>
          <p:nvPr/>
        </p:nvSpPr>
        <p:spPr>
          <a:xfrm>
            <a:off x="11704320" y="6492240"/>
            <a:ext cx="365760" cy="256032"/>
          </a:xfrm>
          <a:prstGeom prst="rect">
            <a:avLst/>
          </a:prstGeom>
          <a:noFill/>
          <a:ln/>
        </p:spPr>
        <p:txBody>
          <a:bodyPr wrap="square" rtlCol="0" anchor="ctr"/>
          <a:lstStyle/>
          <a:p>
            <a:pPr algn="r" indent="0" marL="0">
              <a:buNone/>
            </a:pPr>
            <a:r>
              <a:rPr lang="en-US" sz="900" dirty="0">
                <a:solidFill>
                  <a:srgbClr val="334155"/>
                </a:solidFill>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4663440" cy="6858000"/>
          </a:xfrm>
          <a:prstGeom prst="rect">
            <a:avLst/>
          </a:prstGeom>
          <a:solidFill>
            <a:srgbClr val="1E293B"/>
          </a:solidFill>
          <a:ln w="12700">
            <a:solidFill>
              <a:srgbClr val="1E293B"/>
            </a:solidFill>
            <a:prstDash val="solid"/>
          </a:ln>
        </p:spPr>
      </p:sp>
      <p:sp>
        <p:nvSpPr>
          <p:cNvPr id="3" name="Shape 1"/>
          <p:cNvSpPr/>
          <p:nvPr/>
        </p:nvSpPr>
        <p:spPr>
          <a:xfrm>
            <a:off x="0" y="0"/>
            <a:ext cx="64008" cy="6858000"/>
          </a:xfrm>
          <a:prstGeom prst="rect">
            <a:avLst/>
          </a:prstGeom>
          <a:solidFill>
            <a:srgbClr val="DC2626"/>
          </a:solidFill>
          <a:ln w="12700">
            <a:solidFill>
              <a:srgbClr val="DC2626"/>
            </a:solidFill>
            <a:prstDash val="solid"/>
          </a:ln>
        </p:spPr>
      </p:sp>
      <p:sp>
        <p:nvSpPr>
          <p:cNvPr id="4" name="Text 2"/>
          <p:cNvSpPr/>
          <p:nvPr/>
        </p:nvSpPr>
        <p:spPr>
          <a:xfrm>
            <a:off x="274320" y="502920"/>
            <a:ext cx="4206240" cy="274320"/>
          </a:xfrm>
          <a:prstGeom prst="rect">
            <a:avLst/>
          </a:prstGeom>
          <a:noFill/>
          <a:ln/>
        </p:spPr>
        <p:txBody>
          <a:bodyPr wrap="square" rtlCol="0" anchor="ctr"/>
          <a:lstStyle/>
          <a:p>
            <a:pPr indent="0" marL="0">
              <a:buNone/>
            </a:pPr>
            <a:r>
              <a:rPr lang="en-US" sz="900" b="1" spc="150" kern="0" dirty="0">
                <a:solidFill>
                  <a:srgbClr val="DC2626"/>
                </a:solidFill>
              </a:rPr>
              <a:t>01 / PUBLIC — HOME PAGE</a:t>
            </a:r>
            <a:endParaRPr lang="en-US" sz="900" dirty="0"/>
          </a:p>
        </p:txBody>
      </p:sp>
      <p:sp>
        <p:nvSpPr>
          <p:cNvPr id="5" name="Text 3"/>
          <p:cNvSpPr/>
          <p:nvPr/>
        </p:nvSpPr>
        <p:spPr>
          <a:xfrm>
            <a:off x="274320" y="868680"/>
            <a:ext cx="4114800" cy="1097280"/>
          </a:xfrm>
          <a:prstGeom prst="rect">
            <a:avLst/>
          </a:prstGeom>
          <a:noFill/>
          <a:ln/>
        </p:spPr>
        <p:txBody>
          <a:bodyPr wrap="square" rtlCol="0" anchor="ctr"/>
          <a:lstStyle/>
          <a:p>
            <a:pPr indent="0" marL="0">
              <a:buNone/>
            </a:pPr>
            <a:r>
              <a:rPr lang="en-US" sz="2200" b="1" spc="-50" kern="0" dirty="0">
                <a:solidFill>
                  <a:srgbClr val="FFFFFF"/>
                </a:solidFill>
              </a:rPr>
              <a:t>Features &amp; How It Works</a:t>
            </a:r>
            <a:endParaRPr lang="en-US" sz="2200" dirty="0"/>
          </a:p>
        </p:txBody>
      </p:sp>
      <p:sp>
        <p:nvSpPr>
          <p:cNvPr id="6" name="Text 4"/>
          <p:cNvSpPr/>
          <p:nvPr/>
        </p:nvSpPr>
        <p:spPr>
          <a:xfrm>
            <a:off x="274320" y="2057400"/>
            <a:ext cx="4114800" cy="914400"/>
          </a:xfrm>
          <a:prstGeom prst="rect">
            <a:avLst/>
          </a:prstGeom>
          <a:noFill/>
          <a:ln/>
        </p:spPr>
        <p:txBody>
          <a:bodyPr wrap="square" rtlCol="0" anchor="ctr"/>
          <a:lstStyle/>
          <a:p>
            <a:pPr indent="0" marL="0">
              <a:lnSpc>
                <a:spcPct val="140000"/>
              </a:lnSpc>
              <a:buNone/>
            </a:pPr>
            <a:r>
              <a:rPr lang="en-US" sz="1100" dirty="0">
                <a:solidFill>
                  <a:srgbClr val="94A3B8"/>
                </a:solidFill>
              </a:rPr>
              <a:t>Scrolling reveals six core feature cards and a three-step visual guide showing employees how to submit a request and get it processed.</a:t>
            </a:r>
            <a:endParaRPr lang="en-US" sz="1100" dirty="0"/>
          </a:p>
        </p:txBody>
      </p:sp>
      <p:sp>
        <p:nvSpPr>
          <p:cNvPr id="7" name="Text 5"/>
          <p:cNvSpPr/>
          <p:nvPr/>
        </p:nvSpPr>
        <p:spPr>
          <a:xfrm>
            <a:off x="274320" y="3063240"/>
            <a:ext cx="4114800" cy="3383280"/>
          </a:xfrm>
          <a:prstGeom prst="rect">
            <a:avLst/>
          </a:prstGeom>
          <a:noFill/>
          <a:ln/>
        </p:spPr>
        <p:txBody>
          <a:bodyPr wrap="square" rtlCol="0" anchor="ctr"/>
          <a:lstStyle/>
          <a:p>
            <a:pPr marL="190500" indent="-190500">
              <a:lnSpc>
                <a:spcPct val="130000"/>
              </a:lnSpc>
              <a:spcAft>
                <a:spcPts val="400"/>
              </a:spcAft>
              <a:buSzPct val="100000"/>
              <a:buFont typeface="+mj-lt"/>
              <a:buAutoNum type="arabicPeriod" startAt="1"/>
            </a:pPr>
            <a:r>
              <a:rPr lang="en-US" sz="1100" dirty="0">
                <a:solidFill>
                  <a:srgbClr val="CBD5E1"/>
                </a:solidFill>
              </a:rPr>
              <a:t>Six features: Form, Approval, Region Routing, Dashboard, Users, Secure Access</a:t>
            </a:r>
            <a:endParaRPr lang="en-US" sz="1100" dirty="0"/>
          </a:p>
          <a:p>
            <a:pPr marL="190500" indent="-190500">
              <a:lnSpc>
                <a:spcPct val="130000"/>
              </a:lnSpc>
              <a:spcAft>
                <a:spcPts val="400"/>
              </a:spcAft>
              <a:buSzPct val="100000"/>
              <a:buFont typeface="+mj-lt"/>
              <a:buAutoNum type="arabicPeriod" startAt="1"/>
            </a:pPr>
            <a:r>
              <a:rPr lang="en-US" sz="1100" dirty="0">
                <a:solidFill>
                  <a:srgbClr val="CBD5E1"/>
                </a:solidFill>
              </a:rPr>
              <a:t>Three-step process guide (Fill → Submit → Approved)</a:t>
            </a:r>
            <a:endParaRPr lang="en-US" sz="1100" dirty="0"/>
          </a:p>
          <a:p>
            <a:pPr marL="190500" indent="-190500">
              <a:lnSpc>
                <a:spcPct val="130000"/>
              </a:lnSpc>
              <a:spcAft>
                <a:spcPts val="400"/>
              </a:spcAft>
              <a:buSzPct val="100000"/>
              <a:buFont typeface="+mj-lt"/>
              <a:buAutoNum type="arabicPeriod" startAt="1"/>
            </a:pPr>
            <a:r>
              <a:rPr lang="en-US" sz="1100" dirty="0">
                <a:solidFill>
                  <a:srgbClr val="CBD5E1"/>
                </a:solidFill>
              </a:rPr>
              <a:t>Bold CTA banner at bottom leading back to the form</a:t>
            </a:r>
            <a:endParaRPr lang="en-US" sz="1100" dirty="0"/>
          </a:p>
          <a:p>
            <a:pPr marL="190500" indent="-190500">
              <a:lnSpc>
                <a:spcPct val="130000"/>
              </a:lnSpc>
              <a:spcAft>
                <a:spcPts val="400"/>
              </a:spcAft>
              <a:buSzPct val="100000"/>
              <a:buFont typeface="+mj-lt"/>
              <a:buAutoNum type="arabicPeriod" startAt="1"/>
            </a:pPr>
            <a:r>
              <a:rPr lang="en-US" sz="1100" dirty="0">
                <a:solidFill>
                  <a:srgbClr val="CBD5E1"/>
                </a:solidFill>
              </a:rPr>
              <a:t>Footer with quick navigation links</a:t>
            </a:r>
            <a:endParaRPr lang="en-US" sz="1100" dirty="0"/>
          </a:p>
        </p:txBody>
      </p:sp>
      <p:pic>
        <p:nvPicPr>
          <p:cNvPr id="8" name="Image 0" descr="/Users/hajajkhan/Downloads/RetailRequisition/presentation/screenshots/01b_home_features.png">    </p:cNvPr>
          <p:cNvPicPr>
            <a:picLocks noChangeAspect="1"/>
          </p:cNvPicPr>
          <p:nvPr/>
        </p:nvPicPr>
        <p:blipFill>
          <a:blip r:embed="rId1"/>
          <a:stretch>
            <a:fillRect/>
          </a:stretch>
        </p:blipFill>
        <p:spPr>
          <a:xfrm>
            <a:off x="4846320" y="274320"/>
            <a:ext cx="7132320" cy="3017520"/>
          </a:xfrm>
          <a:prstGeom prst="rect">
            <a:avLst/>
          </a:prstGeom>
        </p:spPr>
      </p:pic>
      <p:pic>
        <p:nvPicPr>
          <p:cNvPr id="9" name="Image 1" descr="/Users/hajajkhan/Downloads/RetailRequisition/presentation/screenshots/01c_home_cta.png">    </p:cNvPr>
          <p:cNvPicPr>
            <a:picLocks noChangeAspect="1"/>
          </p:cNvPicPr>
          <p:nvPr/>
        </p:nvPicPr>
        <p:blipFill>
          <a:blip r:embed="rId2"/>
          <a:stretch>
            <a:fillRect/>
          </a:stretch>
        </p:blipFill>
        <p:spPr>
          <a:xfrm>
            <a:off x="4846320" y="3520440"/>
            <a:ext cx="7132320" cy="3063240"/>
          </a:xfrm>
          <a:prstGeom prst="rect">
            <a:avLst/>
          </a:prstGeom>
        </p:spPr>
      </p:pic>
      <p:sp>
        <p:nvSpPr>
          <p:cNvPr id="10" name="Text 6"/>
          <p:cNvSpPr/>
          <p:nvPr/>
        </p:nvSpPr>
        <p:spPr>
          <a:xfrm>
            <a:off x="11704320" y="6492240"/>
            <a:ext cx="365760" cy="256032"/>
          </a:xfrm>
          <a:prstGeom prst="rect">
            <a:avLst/>
          </a:prstGeom>
          <a:noFill/>
          <a:ln/>
        </p:spPr>
        <p:txBody>
          <a:bodyPr wrap="square" rtlCol="0" anchor="ctr"/>
          <a:lstStyle/>
          <a:p>
            <a:pPr algn="r" indent="0" marL="0">
              <a:buNone/>
            </a:pPr>
            <a:r>
              <a:rPr lang="en-US" sz="900" dirty="0">
                <a:solidFill>
                  <a:srgbClr val="334155"/>
                </a:solidFill>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4663440" cy="6858000"/>
          </a:xfrm>
          <a:prstGeom prst="rect">
            <a:avLst/>
          </a:prstGeom>
          <a:solidFill>
            <a:srgbClr val="1E293B"/>
          </a:solidFill>
          <a:ln w="12700">
            <a:solidFill>
              <a:srgbClr val="1E293B"/>
            </a:solidFill>
            <a:prstDash val="solid"/>
          </a:ln>
        </p:spPr>
      </p:sp>
      <p:sp>
        <p:nvSpPr>
          <p:cNvPr id="3" name="Shape 1"/>
          <p:cNvSpPr/>
          <p:nvPr/>
        </p:nvSpPr>
        <p:spPr>
          <a:xfrm>
            <a:off x="0" y="0"/>
            <a:ext cx="64008" cy="6858000"/>
          </a:xfrm>
          <a:prstGeom prst="rect">
            <a:avLst/>
          </a:prstGeom>
          <a:solidFill>
            <a:srgbClr val="DC2626"/>
          </a:solidFill>
          <a:ln w="12700">
            <a:solidFill>
              <a:srgbClr val="DC2626"/>
            </a:solidFill>
            <a:prstDash val="solid"/>
          </a:ln>
        </p:spPr>
      </p:sp>
      <p:sp>
        <p:nvSpPr>
          <p:cNvPr id="4" name="Text 2"/>
          <p:cNvSpPr/>
          <p:nvPr/>
        </p:nvSpPr>
        <p:spPr>
          <a:xfrm>
            <a:off x="274320" y="502920"/>
            <a:ext cx="4206240" cy="274320"/>
          </a:xfrm>
          <a:prstGeom prst="rect">
            <a:avLst/>
          </a:prstGeom>
          <a:noFill/>
          <a:ln/>
        </p:spPr>
        <p:txBody>
          <a:bodyPr wrap="square" rtlCol="0" anchor="ctr"/>
          <a:lstStyle/>
          <a:p>
            <a:pPr indent="0" marL="0">
              <a:buNone/>
            </a:pPr>
            <a:r>
              <a:rPr lang="en-US" sz="900" b="1" spc="150" kern="0" dirty="0">
                <a:solidFill>
                  <a:srgbClr val="DC2626"/>
                </a:solidFill>
              </a:rPr>
              <a:t>02 / PUBLIC — REQUISITION FORM</a:t>
            </a:r>
            <a:endParaRPr lang="en-US" sz="900" dirty="0"/>
          </a:p>
        </p:txBody>
      </p:sp>
      <p:sp>
        <p:nvSpPr>
          <p:cNvPr id="5" name="Text 3"/>
          <p:cNvSpPr/>
          <p:nvPr/>
        </p:nvSpPr>
        <p:spPr>
          <a:xfrm>
            <a:off x="274320" y="868680"/>
            <a:ext cx="4114800" cy="1097280"/>
          </a:xfrm>
          <a:prstGeom prst="rect">
            <a:avLst/>
          </a:prstGeom>
          <a:noFill/>
          <a:ln/>
        </p:spPr>
        <p:txBody>
          <a:bodyPr wrap="square" rtlCol="0" anchor="ctr"/>
          <a:lstStyle/>
          <a:p>
            <a:pPr indent="0" marL="0">
              <a:buNone/>
            </a:pPr>
            <a:r>
              <a:rPr lang="en-US" sz="2200" b="1" spc="-50" kern="0" dirty="0">
                <a:solidFill>
                  <a:srgbClr val="FFFFFF"/>
                </a:solidFill>
              </a:rPr>
              <a:t>Employee Details Input</a:t>
            </a:r>
            <a:endParaRPr lang="en-US" sz="2200" dirty="0"/>
          </a:p>
        </p:txBody>
      </p:sp>
      <p:sp>
        <p:nvSpPr>
          <p:cNvPr id="6" name="Text 4"/>
          <p:cNvSpPr/>
          <p:nvPr/>
        </p:nvSpPr>
        <p:spPr>
          <a:xfrm>
            <a:off x="274320" y="2057400"/>
            <a:ext cx="4114800" cy="1097280"/>
          </a:xfrm>
          <a:prstGeom prst="rect">
            <a:avLst/>
          </a:prstGeom>
          <a:noFill/>
          <a:ln/>
        </p:spPr>
        <p:txBody>
          <a:bodyPr wrap="square" rtlCol="0" anchor="ctr"/>
          <a:lstStyle/>
          <a:p>
            <a:pPr indent="0" marL="0">
              <a:lnSpc>
                <a:spcPct val="140000"/>
              </a:lnSpc>
              <a:buNone/>
            </a:pPr>
            <a:r>
              <a:rPr lang="en-US" sz="1100" dirty="0">
                <a:solidFill>
                  <a:srgbClr val="94A3B8"/>
                </a:solidFill>
              </a:rPr>
              <a:t>The form begins with requester information. Employees enter their Region, Route Code, Employee Code, Location, and Origin using validated input fields.</a:t>
            </a:r>
            <a:endParaRPr lang="en-US" sz="1100" dirty="0"/>
          </a:p>
        </p:txBody>
      </p:sp>
      <p:sp>
        <p:nvSpPr>
          <p:cNvPr id="7" name="Text 5"/>
          <p:cNvSpPr/>
          <p:nvPr/>
        </p:nvSpPr>
        <p:spPr>
          <a:xfrm>
            <a:off x="274320" y="3246120"/>
            <a:ext cx="4114800" cy="3200400"/>
          </a:xfrm>
          <a:prstGeom prst="rect">
            <a:avLst/>
          </a:prstGeom>
          <a:noFill/>
          <a:ln/>
        </p:spPr>
        <p:txBody>
          <a:bodyPr wrap="square" rtlCol="0" anchor="ctr"/>
          <a:lstStyle/>
          <a:p>
            <a:pPr marL="190500" indent="-190500">
              <a:lnSpc>
                <a:spcPct val="130000"/>
              </a:lnSpc>
              <a:spcAft>
                <a:spcPts val="400"/>
              </a:spcAft>
              <a:buSzPct val="100000"/>
              <a:buFont typeface="+mj-lt"/>
              <a:buAutoNum type="arabicPeriod" startAt="1"/>
            </a:pPr>
            <a:r>
              <a:rPr lang="en-US" sz="1100" dirty="0">
                <a:solidFill>
                  <a:srgbClr val="CBD5E1"/>
                </a:solidFill>
              </a:rPr>
              <a:t>Region selected from a fully-styled custom dropdown — all Pakistan regions</a:t>
            </a:r>
            <a:endParaRPr lang="en-US" sz="1100" dirty="0"/>
          </a:p>
          <a:p>
            <a:pPr marL="190500" indent="-190500">
              <a:lnSpc>
                <a:spcPct val="130000"/>
              </a:lnSpc>
              <a:spcAft>
                <a:spcPts val="400"/>
              </a:spcAft>
              <a:buSzPct val="100000"/>
              <a:buFont typeface="+mj-lt"/>
              <a:buAutoNum type="arabicPeriod" startAt="1"/>
            </a:pPr>
            <a:r>
              <a:rPr lang="en-US" sz="1100" dirty="0">
                <a:solidFill>
                  <a:srgbClr val="CBD5E1"/>
                </a:solidFill>
              </a:rPr>
              <a:t>Route Code enforced to start with "X"</a:t>
            </a:r>
            <a:endParaRPr lang="en-US" sz="1100" dirty="0"/>
          </a:p>
          <a:p>
            <a:pPr marL="190500" indent="-190500">
              <a:lnSpc>
                <a:spcPct val="130000"/>
              </a:lnSpc>
              <a:spcAft>
                <a:spcPts val="400"/>
              </a:spcAft>
              <a:buSzPct val="100000"/>
              <a:buFont typeface="+mj-lt"/>
              <a:buAutoNum type="arabicPeriod" startAt="1"/>
            </a:pPr>
            <a:r>
              <a:rPr lang="en-US" sz="1100" dirty="0">
                <a:solidFill>
                  <a:srgbClr val="CBD5E1"/>
                </a:solidFill>
              </a:rPr>
              <a:t>EMP Code accepts numbers only — auto-strips letters</a:t>
            </a:r>
            <a:endParaRPr lang="en-US" sz="1100" dirty="0"/>
          </a:p>
          <a:p>
            <a:pPr marL="190500" indent="-190500">
              <a:lnSpc>
                <a:spcPct val="130000"/>
              </a:lnSpc>
              <a:spcAft>
                <a:spcPts val="400"/>
              </a:spcAft>
              <a:buSzPct val="100000"/>
              <a:buFont typeface="+mj-lt"/>
              <a:buAutoNum type="arabicPeriod" startAt="1"/>
            </a:pPr>
            <a:r>
              <a:rPr lang="en-US" sz="1100" dirty="0">
                <a:solidFill>
                  <a:srgbClr val="CBD5E1"/>
                </a:solidFill>
              </a:rPr>
              <a:t>Location auto-converts to uppercase</a:t>
            </a:r>
            <a:endParaRPr lang="en-US" sz="1100" dirty="0"/>
          </a:p>
          <a:p>
            <a:pPr marL="190500" indent="-190500">
              <a:lnSpc>
                <a:spcPct val="130000"/>
              </a:lnSpc>
              <a:spcAft>
                <a:spcPts val="400"/>
              </a:spcAft>
              <a:buSzPct val="100000"/>
              <a:buFont typeface="+mj-lt"/>
              <a:buAutoNum type="arabicPeriod" startAt="1"/>
            </a:pPr>
            <a:r>
              <a:rPr lang="en-US" sz="1100" dirty="0">
                <a:solidFill>
                  <a:srgbClr val="CBD5E1"/>
                </a:solidFill>
              </a:rPr>
              <a:t>Origin limited to 3 alphabetic characters</a:t>
            </a:r>
            <a:endParaRPr lang="en-US" sz="1100" dirty="0"/>
          </a:p>
        </p:txBody>
      </p:sp>
      <p:pic>
        <p:nvPicPr>
          <p:cNvPr id="8" name="Image 0" descr="/Users/hajajkhan/Downloads/RetailRequisition/presentation/screenshots/02_form_top.png">    </p:cNvPr>
          <p:cNvPicPr>
            <a:picLocks noChangeAspect="1"/>
          </p:cNvPicPr>
          <p:nvPr/>
        </p:nvPicPr>
        <p:blipFill>
          <a:blip r:embed="rId1"/>
          <a:stretch>
            <a:fillRect/>
          </a:stretch>
        </p:blipFill>
        <p:spPr>
          <a:xfrm>
            <a:off x="4846320" y="274320"/>
            <a:ext cx="7132320" cy="6309360"/>
          </a:xfrm>
          <a:prstGeom prst="rect">
            <a:avLst/>
          </a:prstGeom>
        </p:spPr>
      </p:pic>
      <p:sp>
        <p:nvSpPr>
          <p:cNvPr id="9" name="Text 6"/>
          <p:cNvSpPr/>
          <p:nvPr/>
        </p:nvSpPr>
        <p:spPr>
          <a:xfrm>
            <a:off x="11704320" y="6492240"/>
            <a:ext cx="365760" cy="256032"/>
          </a:xfrm>
          <a:prstGeom prst="rect">
            <a:avLst/>
          </a:prstGeom>
          <a:noFill/>
          <a:ln/>
        </p:spPr>
        <p:txBody>
          <a:bodyPr wrap="square" rtlCol="0" anchor="ctr"/>
          <a:lstStyle/>
          <a:p>
            <a:pPr algn="r" indent="0" marL="0">
              <a:buNone/>
            </a:pPr>
            <a:r>
              <a:rPr lang="en-US" sz="900" dirty="0">
                <a:solidFill>
                  <a:srgbClr val="334155"/>
                </a:solidFill>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4663440" cy="6858000"/>
          </a:xfrm>
          <a:prstGeom prst="rect">
            <a:avLst/>
          </a:prstGeom>
          <a:solidFill>
            <a:srgbClr val="1E293B"/>
          </a:solidFill>
          <a:ln w="12700">
            <a:solidFill>
              <a:srgbClr val="1E293B"/>
            </a:solidFill>
            <a:prstDash val="solid"/>
          </a:ln>
        </p:spPr>
      </p:sp>
      <p:sp>
        <p:nvSpPr>
          <p:cNvPr id="3" name="Shape 1"/>
          <p:cNvSpPr/>
          <p:nvPr/>
        </p:nvSpPr>
        <p:spPr>
          <a:xfrm>
            <a:off x="0" y="0"/>
            <a:ext cx="64008" cy="6858000"/>
          </a:xfrm>
          <a:prstGeom prst="rect">
            <a:avLst/>
          </a:prstGeom>
          <a:solidFill>
            <a:srgbClr val="DC2626"/>
          </a:solidFill>
          <a:ln w="12700">
            <a:solidFill>
              <a:srgbClr val="DC2626"/>
            </a:solidFill>
            <a:prstDash val="solid"/>
          </a:ln>
        </p:spPr>
      </p:sp>
      <p:sp>
        <p:nvSpPr>
          <p:cNvPr id="4" name="Text 2"/>
          <p:cNvSpPr/>
          <p:nvPr/>
        </p:nvSpPr>
        <p:spPr>
          <a:xfrm>
            <a:off x="274320" y="502920"/>
            <a:ext cx="4206240" cy="274320"/>
          </a:xfrm>
          <a:prstGeom prst="rect">
            <a:avLst/>
          </a:prstGeom>
          <a:noFill/>
          <a:ln/>
        </p:spPr>
        <p:txBody>
          <a:bodyPr wrap="square" rtlCol="0" anchor="ctr"/>
          <a:lstStyle/>
          <a:p>
            <a:pPr indent="0" marL="0">
              <a:buNone/>
            </a:pPr>
            <a:r>
              <a:rPr lang="en-US" sz="900" b="1" spc="150" kern="0" dirty="0">
                <a:solidFill>
                  <a:srgbClr val="DC2626"/>
                </a:solidFill>
              </a:rPr>
              <a:t>02 / PUBLIC — REQUISITION FORM</a:t>
            </a:r>
            <a:endParaRPr lang="en-US" sz="900" dirty="0"/>
          </a:p>
        </p:txBody>
      </p:sp>
      <p:sp>
        <p:nvSpPr>
          <p:cNvPr id="5" name="Text 3"/>
          <p:cNvSpPr/>
          <p:nvPr/>
        </p:nvSpPr>
        <p:spPr>
          <a:xfrm>
            <a:off x="274320" y="868680"/>
            <a:ext cx="4114800" cy="1097280"/>
          </a:xfrm>
          <a:prstGeom prst="rect">
            <a:avLst/>
          </a:prstGeom>
          <a:noFill/>
          <a:ln/>
        </p:spPr>
        <p:txBody>
          <a:bodyPr wrap="square" rtlCol="0" anchor="ctr"/>
          <a:lstStyle/>
          <a:p>
            <a:pPr indent="0" marL="0">
              <a:buNone/>
            </a:pPr>
            <a:r>
              <a:rPr lang="en-US" sz="2200" b="1" spc="-50" kern="0" dirty="0">
                <a:solidFill>
                  <a:srgbClr val="FFFFFF"/>
                </a:solidFill>
              </a:rPr>
              <a:t>Stock Items &amp; Grand Total</a:t>
            </a:r>
            <a:endParaRPr lang="en-US" sz="2200" dirty="0"/>
          </a:p>
        </p:txBody>
      </p:sp>
      <p:sp>
        <p:nvSpPr>
          <p:cNvPr id="6" name="Text 4"/>
          <p:cNvSpPr/>
          <p:nvPr/>
        </p:nvSpPr>
        <p:spPr>
          <a:xfrm>
            <a:off x="274320" y="2057400"/>
            <a:ext cx="4114800" cy="1097280"/>
          </a:xfrm>
          <a:prstGeom prst="rect">
            <a:avLst/>
          </a:prstGeom>
          <a:noFill/>
          <a:ln/>
        </p:spPr>
        <p:txBody>
          <a:bodyPr wrap="square" rtlCol="0" anchor="ctr"/>
          <a:lstStyle/>
          <a:p>
            <a:pPr indent="0" marL="0">
              <a:lnSpc>
                <a:spcPct val="140000"/>
              </a:lnSpc>
              <a:buNone/>
            </a:pPr>
            <a:r>
              <a:rPr lang="en-US" sz="1100" dirty="0">
                <a:solidFill>
                  <a:srgbClr val="94A3B8"/>
                </a:solidFill>
              </a:rPr>
              <a:t>Below the header, employees enter quantities for each retail stock item. The form dynamically calculates line totals (Qty × Price) and the Grand Total in real time.</a:t>
            </a:r>
            <a:endParaRPr lang="en-US" sz="1100" dirty="0"/>
          </a:p>
        </p:txBody>
      </p:sp>
      <p:sp>
        <p:nvSpPr>
          <p:cNvPr id="7" name="Text 5"/>
          <p:cNvSpPr/>
          <p:nvPr/>
        </p:nvSpPr>
        <p:spPr>
          <a:xfrm>
            <a:off x="274320" y="3246120"/>
            <a:ext cx="4114800" cy="3200400"/>
          </a:xfrm>
          <a:prstGeom prst="rect">
            <a:avLst/>
          </a:prstGeom>
          <a:noFill/>
          <a:ln/>
        </p:spPr>
        <p:txBody>
          <a:bodyPr wrap="square" rtlCol="0" anchor="ctr"/>
          <a:lstStyle/>
          <a:p>
            <a:pPr marL="190500" indent="-190500">
              <a:lnSpc>
                <a:spcPct val="130000"/>
              </a:lnSpc>
              <a:spcAft>
                <a:spcPts val="400"/>
              </a:spcAft>
              <a:buSzPct val="100000"/>
              <a:buFont typeface="+mj-lt"/>
              <a:buAutoNum type="arabicPeriod" startAt="1"/>
            </a:pPr>
            <a:r>
              <a:rPr lang="en-US" sz="1100" dirty="0">
                <a:solidFill>
                  <a:srgbClr val="CBD5E1"/>
                </a:solidFill>
              </a:rPr>
              <a:t>All 36 retail items loaded dynamically from the database</a:t>
            </a:r>
            <a:endParaRPr lang="en-US" sz="1100" dirty="0"/>
          </a:p>
          <a:p>
            <a:pPr marL="190500" indent="-190500">
              <a:lnSpc>
                <a:spcPct val="130000"/>
              </a:lnSpc>
              <a:spcAft>
                <a:spcPts val="400"/>
              </a:spcAft>
              <a:buSzPct val="100000"/>
              <a:buFont typeface="+mj-lt"/>
              <a:buAutoNum type="arabicPeriod" startAt="1"/>
            </a:pPr>
            <a:r>
              <a:rPr lang="en-US" sz="1100" dirty="0">
                <a:solidFill>
                  <a:srgbClr val="CBD5E1"/>
                </a:solidFill>
              </a:rPr>
              <a:t>Each row: Item, Unit Price, Quantity, In-Hand Stock, Total</a:t>
            </a:r>
            <a:endParaRPr lang="en-US" sz="1100" dirty="0"/>
          </a:p>
          <a:p>
            <a:pPr marL="190500" indent="-190500">
              <a:lnSpc>
                <a:spcPct val="130000"/>
              </a:lnSpc>
              <a:spcAft>
                <a:spcPts val="400"/>
              </a:spcAft>
              <a:buSzPct val="100000"/>
              <a:buFont typeface="+mj-lt"/>
              <a:buAutoNum type="arabicPeriod" startAt="1"/>
            </a:pPr>
            <a:r>
              <a:rPr lang="en-US" sz="1100" dirty="0">
                <a:solidFill>
                  <a:srgbClr val="CBD5E1"/>
                </a:solidFill>
              </a:rPr>
              <a:t>Grand Total updates live as quantities are typed</a:t>
            </a:r>
            <a:endParaRPr lang="en-US" sz="1100" dirty="0"/>
          </a:p>
          <a:p>
            <a:pPr marL="190500" indent="-190500">
              <a:lnSpc>
                <a:spcPct val="130000"/>
              </a:lnSpc>
              <a:spcAft>
                <a:spcPts val="400"/>
              </a:spcAft>
              <a:buSzPct val="100000"/>
              <a:buFont typeface="+mj-lt"/>
              <a:buAutoNum type="arabicPeriod" startAt="1"/>
            </a:pPr>
            <a:r>
              <a:rPr lang="en-US" sz="1100" dirty="0">
                <a:solidFill>
                  <a:srgbClr val="CBD5E1"/>
                </a:solidFill>
              </a:rPr>
              <a:t>Mobile card layout for small screens; table on desktop</a:t>
            </a:r>
            <a:endParaRPr lang="en-US" sz="1100" dirty="0"/>
          </a:p>
          <a:p>
            <a:pPr marL="190500" indent="-190500">
              <a:lnSpc>
                <a:spcPct val="130000"/>
              </a:lnSpc>
              <a:spcAft>
                <a:spcPts val="400"/>
              </a:spcAft>
              <a:buSzPct val="100000"/>
              <a:buFont typeface="+mj-lt"/>
              <a:buAutoNum type="arabicPeriod" startAt="1"/>
            </a:pPr>
            <a:r>
              <a:rPr lang="en-US" sz="1100" dirty="0">
                <a:solidFill>
                  <a:srgbClr val="CBD5E1"/>
                </a:solidFill>
              </a:rPr>
              <a:t>Single Submit button sends all data to the admin queue</a:t>
            </a:r>
            <a:endParaRPr lang="en-US" sz="1100" dirty="0"/>
          </a:p>
        </p:txBody>
      </p:sp>
      <p:pic>
        <p:nvPicPr>
          <p:cNvPr id="8" name="Image 0" descr="/Users/hajajkhan/Downloads/RetailRequisition/presentation/screenshots/02b_form_items.png">    </p:cNvPr>
          <p:cNvPicPr>
            <a:picLocks noChangeAspect="1"/>
          </p:cNvPicPr>
          <p:nvPr/>
        </p:nvPicPr>
        <p:blipFill>
          <a:blip r:embed="rId1"/>
          <a:stretch>
            <a:fillRect/>
          </a:stretch>
        </p:blipFill>
        <p:spPr>
          <a:xfrm>
            <a:off x="4846320" y="274320"/>
            <a:ext cx="7132320" cy="6309360"/>
          </a:xfrm>
          <a:prstGeom prst="rect">
            <a:avLst/>
          </a:prstGeom>
        </p:spPr>
      </p:pic>
      <p:sp>
        <p:nvSpPr>
          <p:cNvPr id="9" name="Text 6"/>
          <p:cNvSpPr/>
          <p:nvPr/>
        </p:nvSpPr>
        <p:spPr>
          <a:xfrm>
            <a:off x="11704320" y="6492240"/>
            <a:ext cx="365760" cy="256032"/>
          </a:xfrm>
          <a:prstGeom prst="rect">
            <a:avLst/>
          </a:prstGeom>
          <a:noFill/>
          <a:ln/>
        </p:spPr>
        <p:txBody>
          <a:bodyPr wrap="square" rtlCol="0" anchor="ctr"/>
          <a:lstStyle/>
          <a:p>
            <a:pPr algn="r" indent="0" marL="0">
              <a:buNone/>
            </a:pPr>
            <a:r>
              <a:rPr lang="en-US" sz="900" dirty="0">
                <a:solidFill>
                  <a:srgbClr val="334155"/>
                </a:solidFill>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DC2626"/>
          </a:solidFill>
          <a:ln w="12700">
            <a:solidFill>
              <a:srgbClr val="DC2626"/>
            </a:solidFill>
            <a:prstDash val="solid"/>
          </a:ln>
        </p:spPr>
      </p:sp>
      <p:sp>
        <p:nvSpPr>
          <p:cNvPr id="3" name="Text 1"/>
          <p:cNvSpPr/>
          <p:nvPr/>
        </p:nvSpPr>
        <p:spPr>
          <a:xfrm>
            <a:off x="457200" y="320040"/>
            <a:ext cx="11274552" cy="640080"/>
          </a:xfrm>
          <a:prstGeom prst="rect">
            <a:avLst/>
          </a:prstGeom>
          <a:noFill/>
          <a:ln/>
        </p:spPr>
        <p:txBody>
          <a:bodyPr wrap="square" rtlCol="0" anchor="ctr"/>
          <a:lstStyle/>
          <a:p>
            <a:pPr indent="0" marL="0">
              <a:buNone/>
            </a:pPr>
            <a:r>
              <a:rPr lang="en-US" sz="2400" b="1" spc="-50" kern="0" dirty="0">
                <a:solidFill>
                  <a:srgbClr val="FFFFFF"/>
                </a:solidFill>
              </a:rPr>
              <a:t>Requisition Submission Flow</a:t>
            </a:r>
            <a:endParaRPr lang="en-US" sz="2400" dirty="0"/>
          </a:p>
        </p:txBody>
      </p:sp>
      <p:sp>
        <p:nvSpPr>
          <p:cNvPr id="4" name="Shape 2"/>
          <p:cNvSpPr/>
          <p:nvPr/>
        </p:nvSpPr>
        <p:spPr>
          <a:xfrm>
            <a:off x="1173175" y="1280160"/>
            <a:ext cx="822960" cy="822960"/>
          </a:xfrm>
          <a:prstGeom prst="ellipse">
            <a:avLst/>
          </a:prstGeom>
          <a:solidFill>
            <a:srgbClr val="DC2626"/>
          </a:solidFill>
          <a:ln w="12700">
            <a:solidFill>
              <a:srgbClr val="DC2626"/>
            </a:solidFill>
            <a:prstDash val="solid"/>
          </a:ln>
        </p:spPr>
      </p:sp>
      <p:sp>
        <p:nvSpPr>
          <p:cNvPr id="5" name="Text 3"/>
          <p:cNvSpPr/>
          <p:nvPr/>
        </p:nvSpPr>
        <p:spPr>
          <a:xfrm>
            <a:off x="1173175" y="1280160"/>
            <a:ext cx="822960" cy="822960"/>
          </a:xfrm>
          <a:prstGeom prst="rect">
            <a:avLst/>
          </a:prstGeom>
          <a:noFill/>
          <a:ln/>
        </p:spPr>
        <p:txBody>
          <a:bodyPr wrap="square" rtlCol="0" anchor="ctr"/>
          <a:lstStyle/>
          <a:p>
            <a:pPr algn="ctr" indent="0" marL="0">
              <a:buNone/>
            </a:pPr>
            <a:r>
              <a:rPr lang="en-US" sz="1800" b="1" dirty="0">
                <a:solidFill>
                  <a:srgbClr val="FFFFFF"/>
                </a:solidFill>
              </a:rPr>
              <a:t>1</a:t>
            </a:r>
            <a:endParaRPr lang="en-US" sz="1800" dirty="0"/>
          </a:p>
        </p:txBody>
      </p:sp>
      <p:sp>
        <p:nvSpPr>
          <p:cNvPr id="6" name="Shape 4"/>
          <p:cNvSpPr/>
          <p:nvPr/>
        </p:nvSpPr>
        <p:spPr>
          <a:xfrm>
            <a:off x="2574950" y="1645920"/>
            <a:ext cx="274320" cy="91440"/>
          </a:xfrm>
          <a:prstGeom prst="rect">
            <a:avLst/>
          </a:prstGeom>
          <a:solidFill>
            <a:srgbClr val="DC2626"/>
          </a:solidFill>
          <a:ln w="12700">
            <a:solidFill>
              <a:srgbClr val="DC2626"/>
            </a:solidFill>
            <a:prstDash val="solid"/>
          </a:ln>
        </p:spPr>
      </p:sp>
      <p:sp>
        <p:nvSpPr>
          <p:cNvPr id="7" name="Text 5"/>
          <p:cNvSpPr/>
          <p:nvPr/>
        </p:nvSpPr>
        <p:spPr>
          <a:xfrm>
            <a:off x="457200" y="2286000"/>
            <a:ext cx="2254910" cy="457200"/>
          </a:xfrm>
          <a:prstGeom prst="rect">
            <a:avLst/>
          </a:prstGeom>
          <a:noFill/>
          <a:ln/>
        </p:spPr>
        <p:txBody>
          <a:bodyPr wrap="square" rtlCol="0" anchor="ctr"/>
          <a:lstStyle/>
          <a:p>
            <a:pPr algn="ctr" indent="0" marL="0">
              <a:buNone/>
            </a:pPr>
            <a:r>
              <a:rPr lang="en-US" sz="1300" b="1" dirty="0">
                <a:solidFill>
                  <a:srgbClr val="FFFFFF"/>
                </a:solidFill>
              </a:rPr>
              <a:t>Employee Fills Form</a:t>
            </a:r>
            <a:endParaRPr lang="en-US" sz="1300" dirty="0"/>
          </a:p>
        </p:txBody>
      </p:sp>
      <p:sp>
        <p:nvSpPr>
          <p:cNvPr id="8" name="Text 6"/>
          <p:cNvSpPr/>
          <p:nvPr/>
        </p:nvSpPr>
        <p:spPr>
          <a:xfrm>
            <a:off x="548640" y="2834640"/>
            <a:ext cx="2072030" cy="1828800"/>
          </a:xfrm>
          <a:prstGeom prst="rect">
            <a:avLst/>
          </a:prstGeom>
          <a:noFill/>
          <a:ln/>
        </p:spPr>
        <p:txBody>
          <a:bodyPr wrap="square" rtlCol="0" anchor="ctr"/>
          <a:lstStyle/>
          <a:p>
            <a:pPr algn="ctr" indent="0" marL="0">
              <a:lnSpc>
                <a:spcPct val="140000"/>
              </a:lnSpc>
              <a:buNone/>
            </a:pPr>
            <a:r>
              <a:rPr lang="en-US" sz="1050" dirty="0">
                <a:solidFill>
                  <a:srgbClr val="94A3B8"/>
                </a:solidFill>
              </a:rPr>
              <a:t>Enters region, route code, EMP details and stock quantities on the public form</a:t>
            </a:r>
            <a:endParaRPr lang="en-US" sz="1050" dirty="0"/>
          </a:p>
        </p:txBody>
      </p:sp>
      <p:sp>
        <p:nvSpPr>
          <p:cNvPr id="9" name="Shape 7"/>
          <p:cNvSpPr/>
          <p:nvPr/>
        </p:nvSpPr>
        <p:spPr>
          <a:xfrm>
            <a:off x="3428086" y="1280160"/>
            <a:ext cx="822960" cy="822960"/>
          </a:xfrm>
          <a:prstGeom prst="ellipse">
            <a:avLst/>
          </a:prstGeom>
          <a:solidFill>
            <a:srgbClr val="DC2626"/>
          </a:solidFill>
          <a:ln w="12700">
            <a:solidFill>
              <a:srgbClr val="DC2626"/>
            </a:solidFill>
            <a:prstDash val="solid"/>
          </a:ln>
        </p:spPr>
      </p:sp>
      <p:sp>
        <p:nvSpPr>
          <p:cNvPr id="10" name="Text 8"/>
          <p:cNvSpPr/>
          <p:nvPr/>
        </p:nvSpPr>
        <p:spPr>
          <a:xfrm>
            <a:off x="3428086" y="1280160"/>
            <a:ext cx="822960" cy="822960"/>
          </a:xfrm>
          <a:prstGeom prst="rect">
            <a:avLst/>
          </a:prstGeom>
          <a:noFill/>
          <a:ln/>
        </p:spPr>
        <p:txBody>
          <a:bodyPr wrap="square" rtlCol="0" anchor="ctr"/>
          <a:lstStyle/>
          <a:p>
            <a:pPr algn="ctr" indent="0" marL="0">
              <a:buNone/>
            </a:pPr>
            <a:r>
              <a:rPr lang="en-US" sz="1800" b="1" dirty="0">
                <a:solidFill>
                  <a:srgbClr val="FFFFFF"/>
                </a:solidFill>
              </a:rPr>
              <a:t>2</a:t>
            </a:r>
            <a:endParaRPr lang="en-US" sz="1800" dirty="0"/>
          </a:p>
        </p:txBody>
      </p:sp>
      <p:sp>
        <p:nvSpPr>
          <p:cNvPr id="11" name="Shape 9"/>
          <p:cNvSpPr/>
          <p:nvPr/>
        </p:nvSpPr>
        <p:spPr>
          <a:xfrm>
            <a:off x="4829861" y="1645920"/>
            <a:ext cx="274320" cy="91440"/>
          </a:xfrm>
          <a:prstGeom prst="rect">
            <a:avLst/>
          </a:prstGeom>
          <a:solidFill>
            <a:srgbClr val="DC2626"/>
          </a:solidFill>
          <a:ln w="12700">
            <a:solidFill>
              <a:srgbClr val="DC2626"/>
            </a:solidFill>
            <a:prstDash val="solid"/>
          </a:ln>
        </p:spPr>
      </p:sp>
      <p:sp>
        <p:nvSpPr>
          <p:cNvPr id="12" name="Text 10"/>
          <p:cNvSpPr/>
          <p:nvPr/>
        </p:nvSpPr>
        <p:spPr>
          <a:xfrm>
            <a:off x="2712110" y="2286000"/>
            <a:ext cx="2254910" cy="457200"/>
          </a:xfrm>
          <a:prstGeom prst="rect">
            <a:avLst/>
          </a:prstGeom>
          <a:noFill/>
          <a:ln/>
        </p:spPr>
        <p:txBody>
          <a:bodyPr wrap="square" rtlCol="0" anchor="ctr"/>
          <a:lstStyle/>
          <a:p>
            <a:pPr algn="ctr" indent="0" marL="0">
              <a:buNone/>
            </a:pPr>
            <a:r>
              <a:rPr lang="en-US" sz="1300" b="1" dirty="0">
                <a:solidFill>
                  <a:srgbClr val="FFFFFF"/>
                </a:solidFill>
              </a:rPr>
              <a:t>Data Saved to DB</a:t>
            </a:r>
            <a:endParaRPr lang="en-US" sz="1300" dirty="0"/>
          </a:p>
        </p:txBody>
      </p:sp>
      <p:sp>
        <p:nvSpPr>
          <p:cNvPr id="13" name="Text 11"/>
          <p:cNvSpPr/>
          <p:nvPr/>
        </p:nvSpPr>
        <p:spPr>
          <a:xfrm>
            <a:off x="2803550" y="2834640"/>
            <a:ext cx="2072030" cy="1828800"/>
          </a:xfrm>
          <a:prstGeom prst="rect">
            <a:avLst/>
          </a:prstGeom>
          <a:noFill/>
          <a:ln/>
        </p:spPr>
        <p:txBody>
          <a:bodyPr wrap="square" rtlCol="0" anchor="ctr"/>
          <a:lstStyle/>
          <a:p>
            <a:pPr algn="ctr" indent="0" marL="0">
              <a:lnSpc>
                <a:spcPct val="140000"/>
              </a:lnSpc>
              <a:buNone/>
            </a:pPr>
            <a:r>
              <a:rPr lang="en-US" sz="1050" dirty="0">
                <a:solidFill>
                  <a:srgbClr val="94A3B8"/>
                </a:solidFill>
              </a:rPr>
              <a:t>On submit, header + all item quantities and totals stored in Supabase with status = Pending</a:t>
            </a:r>
            <a:endParaRPr lang="en-US" sz="1050" dirty="0"/>
          </a:p>
        </p:txBody>
      </p:sp>
      <p:sp>
        <p:nvSpPr>
          <p:cNvPr id="14" name="Shape 12"/>
          <p:cNvSpPr/>
          <p:nvPr/>
        </p:nvSpPr>
        <p:spPr>
          <a:xfrm>
            <a:off x="5682996" y="1280160"/>
            <a:ext cx="822960" cy="822960"/>
          </a:xfrm>
          <a:prstGeom prst="ellipse">
            <a:avLst/>
          </a:prstGeom>
          <a:solidFill>
            <a:srgbClr val="DC2626"/>
          </a:solidFill>
          <a:ln w="12700">
            <a:solidFill>
              <a:srgbClr val="DC2626"/>
            </a:solidFill>
            <a:prstDash val="solid"/>
          </a:ln>
        </p:spPr>
      </p:sp>
      <p:sp>
        <p:nvSpPr>
          <p:cNvPr id="15" name="Text 13"/>
          <p:cNvSpPr/>
          <p:nvPr/>
        </p:nvSpPr>
        <p:spPr>
          <a:xfrm>
            <a:off x="5682996" y="1280160"/>
            <a:ext cx="822960" cy="822960"/>
          </a:xfrm>
          <a:prstGeom prst="rect">
            <a:avLst/>
          </a:prstGeom>
          <a:noFill/>
          <a:ln/>
        </p:spPr>
        <p:txBody>
          <a:bodyPr wrap="square" rtlCol="0" anchor="ctr"/>
          <a:lstStyle/>
          <a:p>
            <a:pPr algn="ctr" indent="0" marL="0">
              <a:buNone/>
            </a:pPr>
            <a:r>
              <a:rPr lang="en-US" sz="1800" b="1" dirty="0">
                <a:solidFill>
                  <a:srgbClr val="FFFFFF"/>
                </a:solidFill>
              </a:rPr>
              <a:t>3</a:t>
            </a:r>
            <a:endParaRPr lang="en-US" sz="1800" dirty="0"/>
          </a:p>
        </p:txBody>
      </p:sp>
      <p:sp>
        <p:nvSpPr>
          <p:cNvPr id="16" name="Shape 14"/>
          <p:cNvSpPr/>
          <p:nvPr/>
        </p:nvSpPr>
        <p:spPr>
          <a:xfrm>
            <a:off x="7084771" y="1645920"/>
            <a:ext cx="274320" cy="91440"/>
          </a:xfrm>
          <a:prstGeom prst="rect">
            <a:avLst/>
          </a:prstGeom>
          <a:solidFill>
            <a:srgbClr val="DC2626"/>
          </a:solidFill>
          <a:ln w="12700">
            <a:solidFill>
              <a:srgbClr val="DC2626"/>
            </a:solidFill>
            <a:prstDash val="solid"/>
          </a:ln>
        </p:spPr>
      </p:sp>
      <p:sp>
        <p:nvSpPr>
          <p:cNvPr id="17" name="Text 15"/>
          <p:cNvSpPr/>
          <p:nvPr/>
        </p:nvSpPr>
        <p:spPr>
          <a:xfrm>
            <a:off x="4967021" y="2286000"/>
            <a:ext cx="2254910" cy="457200"/>
          </a:xfrm>
          <a:prstGeom prst="rect">
            <a:avLst/>
          </a:prstGeom>
          <a:noFill/>
          <a:ln/>
        </p:spPr>
        <p:txBody>
          <a:bodyPr wrap="square" rtlCol="0" anchor="ctr"/>
          <a:lstStyle/>
          <a:p>
            <a:pPr algn="ctr" indent="0" marL="0">
              <a:buNone/>
            </a:pPr>
            <a:r>
              <a:rPr lang="en-US" sz="1300" b="1" dirty="0">
                <a:solidFill>
                  <a:srgbClr val="FFFFFF"/>
                </a:solidFill>
              </a:rPr>
              <a:t>Admin Notified</a:t>
            </a:r>
            <a:endParaRPr lang="en-US" sz="1300" dirty="0"/>
          </a:p>
        </p:txBody>
      </p:sp>
      <p:sp>
        <p:nvSpPr>
          <p:cNvPr id="18" name="Text 16"/>
          <p:cNvSpPr/>
          <p:nvPr/>
        </p:nvSpPr>
        <p:spPr>
          <a:xfrm>
            <a:off x="5058461" y="2834640"/>
            <a:ext cx="2072030" cy="1828800"/>
          </a:xfrm>
          <a:prstGeom prst="rect">
            <a:avLst/>
          </a:prstGeom>
          <a:noFill/>
          <a:ln/>
        </p:spPr>
        <p:txBody>
          <a:bodyPr wrap="square" rtlCol="0" anchor="ctr"/>
          <a:lstStyle/>
          <a:p>
            <a:pPr algn="ctr" indent="0" marL="0">
              <a:lnSpc>
                <a:spcPct val="140000"/>
              </a:lnSpc>
              <a:buNone/>
            </a:pPr>
            <a:r>
              <a:rPr lang="en-US" sz="1050" dirty="0">
                <a:solidFill>
                  <a:srgbClr val="94A3B8"/>
                </a:solidFill>
              </a:rPr>
              <a:t>New record immediately appears in the admin dashboard under the Pending filter</a:t>
            </a:r>
            <a:endParaRPr lang="en-US" sz="1050" dirty="0"/>
          </a:p>
        </p:txBody>
      </p:sp>
      <p:sp>
        <p:nvSpPr>
          <p:cNvPr id="19" name="Shape 17"/>
          <p:cNvSpPr/>
          <p:nvPr/>
        </p:nvSpPr>
        <p:spPr>
          <a:xfrm>
            <a:off x="7937906" y="1280160"/>
            <a:ext cx="822960" cy="822960"/>
          </a:xfrm>
          <a:prstGeom prst="ellipse">
            <a:avLst/>
          </a:prstGeom>
          <a:solidFill>
            <a:srgbClr val="DC2626"/>
          </a:solidFill>
          <a:ln w="12700">
            <a:solidFill>
              <a:srgbClr val="DC2626"/>
            </a:solidFill>
            <a:prstDash val="solid"/>
          </a:ln>
        </p:spPr>
      </p:sp>
      <p:sp>
        <p:nvSpPr>
          <p:cNvPr id="20" name="Text 18"/>
          <p:cNvSpPr/>
          <p:nvPr/>
        </p:nvSpPr>
        <p:spPr>
          <a:xfrm>
            <a:off x="7937906" y="1280160"/>
            <a:ext cx="822960" cy="822960"/>
          </a:xfrm>
          <a:prstGeom prst="rect">
            <a:avLst/>
          </a:prstGeom>
          <a:noFill/>
          <a:ln/>
        </p:spPr>
        <p:txBody>
          <a:bodyPr wrap="square" rtlCol="0" anchor="ctr"/>
          <a:lstStyle/>
          <a:p>
            <a:pPr algn="ctr" indent="0" marL="0">
              <a:buNone/>
            </a:pPr>
            <a:r>
              <a:rPr lang="en-US" sz="1800" b="1" dirty="0">
                <a:solidFill>
                  <a:srgbClr val="FFFFFF"/>
                </a:solidFill>
              </a:rPr>
              <a:t>4</a:t>
            </a:r>
            <a:endParaRPr lang="en-US" sz="1800" dirty="0"/>
          </a:p>
        </p:txBody>
      </p:sp>
      <p:sp>
        <p:nvSpPr>
          <p:cNvPr id="21" name="Shape 19"/>
          <p:cNvSpPr/>
          <p:nvPr/>
        </p:nvSpPr>
        <p:spPr>
          <a:xfrm>
            <a:off x="9339682" y="1645920"/>
            <a:ext cx="274320" cy="91440"/>
          </a:xfrm>
          <a:prstGeom prst="rect">
            <a:avLst/>
          </a:prstGeom>
          <a:solidFill>
            <a:srgbClr val="DC2626"/>
          </a:solidFill>
          <a:ln w="12700">
            <a:solidFill>
              <a:srgbClr val="DC2626"/>
            </a:solidFill>
            <a:prstDash val="solid"/>
          </a:ln>
        </p:spPr>
      </p:sp>
      <p:sp>
        <p:nvSpPr>
          <p:cNvPr id="22" name="Text 20"/>
          <p:cNvSpPr/>
          <p:nvPr/>
        </p:nvSpPr>
        <p:spPr>
          <a:xfrm>
            <a:off x="7221931" y="2286000"/>
            <a:ext cx="2254910" cy="457200"/>
          </a:xfrm>
          <a:prstGeom prst="rect">
            <a:avLst/>
          </a:prstGeom>
          <a:noFill/>
          <a:ln/>
        </p:spPr>
        <p:txBody>
          <a:bodyPr wrap="square" rtlCol="0" anchor="ctr"/>
          <a:lstStyle/>
          <a:p>
            <a:pPr algn="ctr" indent="0" marL="0">
              <a:buNone/>
            </a:pPr>
            <a:r>
              <a:rPr lang="en-US" sz="1300" b="1" dirty="0">
                <a:solidFill>
                  <a:srgbClr val="FFFFFF"/>
                </a:solidFill>
              </a:rPr>
              <a:t>Review &amp; Action</a:t>
            </a:r>
            <a:endParaRPr lang="en-US" sz="1300" dirty="0"/>
          </a:p>
        </p:txBody>
      </p:sp>
      <p:sp>
        <p:nvSpPr>
          <p:cNvPr id="23" name="Text 21"/>
          <p:cNvSpPr/>
          <p:nvPr/>
        </p:nvSpPr>
        <p:spPr>
          <a:xfrm>
            <a:off x="7313371" y="2834640"/>
            <a:ext cx="2072030" cy="1828800"/>
          </a:xfrm>
          <a:prstGeom prst="rect">
            <a:avLst/>
          </a:prstGeom>
          <a:noFill/>
          <a:ln/>
        </p:spPr>
        <p:txBody>
          <a:bodyPr wrap="square" rtlCol="0" anchor="ctr"/>
          <a:lstStyle/>
          <a:p>
            <a:pPr algn="ctr" indent="0" marL="0">
              <a:lnSpc>
                <a:spcPct val="140000"/>
              </a:lnSpc>
              <a:buNone/>
            </a:pPr>
            <a:r>
              <a:rPr lang="en-US" sz="1050" dirty="0">
                <a:solidFill>
                  <a:srgbClr val="94A3B8"/>
                </a:solidFill>
              </a:rPr>
              <a:t>Admin opens the record, adjusts quantities if needed, then Approves or Rejects</a:t>
            </a:r>
            <a:endParaRPr lang="en-US" sz="1050" dirty="0"/>
          </a:p>
        </p:txBody>
      </p:sp>
      <p:sp>
        <p:nvSpPr>
          <p:cNvPr id="24" name="Shape 22"/>
          <p:cNvSpPr/>
          <p:nvPr/>
        </p:nvSpPr>
        <p:spPr>
          <a:xfrm>
            <a:off x="10192817" y="1280160"/>
            <a:ext cx="822960" cy="822960"/>
          </a:xfrm>
          <a:prstGeom prst="ellipse">
            <a:avLst/>
          </a:prstGeom>
          <a:solidFill>
            <a:srgbClr val="DC2626"/>
          </a:solidFill>
          <a:ln w="12700">
            <a:solidFill>
              <a:srgbClr val="DC2626"/>
            </a:solidFill>
            <a:prstDash val="solid"/>
          </a:ln>
        </p:spPr>
      </p:sp>
      <p:sp>
        <p:nvSpPr>
          <p:cNvPr id="25" name="Text 23"/>
          <p:cNvSpPr/>
          <p:nvPr/>
        </p:nvSpPr>
        <p:spPr>
          <a:xfrm>
            <a:off x="10192817" y="1280160"/>
            <a:ext cx="822960" cy="822960"/>
          </a:xfrm>
          <a:prstGeom prst="rect">
            <a:avLst/>
          </a:prstGeom>
          <a:noFill/>
          <a:ln/>
        </p:spPr>
        <p:txBody>
          <a:bodyPr wrap="square" rtlCol="0" anchor="ctr"/>
          <a:lstStyle/>
          <a:p>
            <a:pPr algn="ctr" indent="0" marL="0">
              <a:buNone/>
            </a:pPr>
            <a:r>
              <a:rPr lang="en-US" sz="1800" b="1" dirty="0">
                <a:solidFill>
                  <a:srgbClr val="FFFFFF"/>
                </a:solidFill>
              </a:rPr>
              <a:t>5</a:t>
            </a:r>
            <a:endParaRPr lang="en-US" sz="1800" dirty="0"/>
          </a:p>
        </p:txBody>
      </p:sp>
      <p:sp>
        <p:nvSpPr>
          <p:cNvPr id="26" name="Text 24"/>
          <p:cNvSpPr/>
          <p:nvPr/>
        </p:nvSpPr>
        <p:spPr>
          <a:xfrm>
            <a:off x="9476842" y="2286000"/>
            <a:ext cx="2254910" cy="457200"/>
          </a:xfrm>
          <a:prstGeom prst="rect">
            <a:avLst/>
          </a:prstGeom>
          <a:noFill/>
          <a:ln/>
        </p:spPr>
        <p:txBody>
          <a:bodyPr wrap="square" rtlCol="0" anchor="ctr"/>
          <a:lstStyle/>
          <a:p>
            <a:pPr algn="ctr" indent="0" marL="0">
              <a:buNone/>
            </a:pPr>
            <a:r>
              <a:rPr lang="en-US" sz="1300" b="1" dirty="0">
                <a:solidFill>
                  <a:srgbClr val="FFFFFF"/>
                </a:solidFill>
              </a:rPr>
              <a:t>Status Updated</a:t>
            </a:r>
            <a:endParaRPr lang="en-US" sz="1300" dirty="0"/>
          </a:p>
        </p:txBody>
      </p:sp>
      <p:sp>
        <p:nvSpPr>
          <p:cNvPr id="27" name="Text 25"/>
          <p:cNvSpPr/>
          <p:nvPr/>
        </p:nvSpPr>
        <p:spPr>
          <a:xfrm>
            <a:off x="9568282" y="2834640"/>
            <a:ext cx="2072030" cy="1828800"/>
          </a:xfrm>
          <a:prstGeom prst="rect">
            <a:avLst/>
          </a:prstGeom>
          <a:noFill/>
          <a:ln/>
        </p:spPr>
        <p:txBody>
          <a:bodyPr wrap="square" rtlCol="0" anchor="ctr"/>
          <a:lstStyle/>
          <a:p>
            <a:pPr algn="ctr" indent="0" marL="0">
              <a:lnSpc>
                <a:spcPct val="140000"/>
              </a:lnSpc>
              <a:buNone/>
            </a:pPr>
            <a:r>
              <a:rPr lang="en-US" sz="1050" dirty="0">
                <a:solidFill>
                  <a:srgbClr val="94A3B8"/>
                </a:solidFill>
              </a:rPr>
              <a:t>Record moves to Approved or Rejected. Approved records exported for deduction processing</a:t>
            </a:r>
            <a:endParaRPr lang="en-US" sz="1050" dirty="0"/>
          </a:p>
        </p:txBody>
      </p:sp>
      <p:sp>
        <p:nvSpPr>
          <p:cNvPr id="28" name="Text 26"/>
          <p:cNvSpPr/>
          <p:nvPr/>
        </p:nvSpPr>
        <p:spPr>
          <a:xfrm>
            <a:off x="457200" y="6217920"/>
            <a:ext cx="11274552" cy="365760"/>
          </a:xfrm>
          <a:prstGeom prst="rect">
            <a:avLst/>
          </a:prstGeom>
          <a:noFill/>
          <a:ln/>
        </p:spPr>
        <p:txBody>
          <a:bodyPr wrap="square" rtlCol="0" anchor="ctr"/>
          <a:lstStyle/>
          <a:p>
            <a:pPr algn="ctr" indent="0" marL="0">
              <a:buNone/>
            </a:pPr>
            <a:r>
              <a:rPr lang="en-US" sz="900" dirty="0">
                <a:solidFill>
                  <a:srgbClr val="334155"/>
                </a:solidFill>
              </a:rPr>
              <a:t>All data stored in Supabase PostgreSQL with Row-Level Security and cascading deletes for referential integrity.</a:t>
            </a:r>
            <a:endParaRPr lang="en-US" sz="900" dirty="0"/>
          </a:p>
        </p:txBody>
      </p:sp>
      <p:sp>
        <p:nvSpPr>
          <p:cNvPr id="29" name="Text 27"/>
          <p:cNvSpPr/>
          <p:nvPr/>
        </p:nvSpPr>
        <p:spPr>
          <a:xfrm>
            <a:off x="11704320" y="6492240"/>
            <a:ext cx="365760" cy="256032"/>
          </a:xfrm>
          <a:prstGeom prst="rect">
            <a:avLst/>
          </a:prstGeom>
          <a:noFill/>
          <a:ln/>
        </p:spPr>
        <p:txBody>
          <a:bodyPr wrap="square" rtlCol="0" anchor="ctr"/>
          <a:lstStyle/>
          <a:p>
            <a:pPr algn="r" indent="0" marL="0">
              <a:buNone/>
            </a:pPr>
            <a:r>
              <a:rPr lang="en-US" sz="900" dirty="0">
                <a:solidFill>
                  <a:srgbClr val="334155"/>
                </a:solidFill>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DC2626"/>
        </a:solidFill>
      </p:bgPr>
    </p:bg>
    <p:spTree>
      <p:nvGrpSpPr>
        <p:cNvPr id="1" name=""/>
        <p:cNvGrpSpPr/>
        <p:nvPr/>
      </p:nvGrpSpPr>
      <p:grpSpPr>
        <a:xfrm>
          <a:off x="0" y="0"/>
          <a:ext cx="0" cy="0"/>
          <a:chOff x="0" y="0"/>
          <a:chExt cx="0" cy="0"/>
        </a:xfrm>
      </p:grpSpPr>
      <p:sp>
        <p:nvSpPr>
          <p:cNvPr id="2" name="Text 0"/>
          <p:cNvSpPr/>
          <p:nvPr/>
        </p:nvSpPr>
        <p:spPr>
          <a:xfrm>
            <a:off x="7772400" y="274320"/>
            <a:ext cx="4114800" cy="3657600"/>
          </a:xfrm>
          <a:prstGeom prst="rect">
            <a:avLst/>
          </a:prstGeom>
          <a:noFill/>
          <a:ln/>
        </p:spPr>
        <p:txBody>
          <a:bodyPr wrap="square" rtlCol="0" anchor="t"/>
          <a:lstStyle/>
          <a:p>
            <a:pPr algn="r" indent="0" marL="0">
              <a:buNone/>
            </a:pPr>
            <a:r>
              <a:rPr lang="en-US" sz="16000" b="1" dirty="0">
                <a:solidFill>
                  <a:srgbClr val="B91C1C"/>
                </a:solidFill>
              </a:rPr>
              <a:t>02</a:t>
            </a:r>
            <a:endParaRPr lang="en-US" sz="16000" dirty="0"/>
          </a:p>
        </p:txBody>
      </p:sp>
      <p:sp>
        <p:nvSpPr>
          <p:cNvPr id="3" name="Text 1"/>
          <p:cNvSpPr/>
          <p:nvPr/>
        </p:nvSpPr>
        <p:spPr>
          <a:xfrm>
            <a:off x="640080" y="2194560"/>
            <a:ext cx="7315200" cy="365760"/>
          </a:xfrm>
          <a:prstGeom prst="rect">
            <a:avLst/>
          </a:prstGeom>
          <a:noFill/>
          <a:ln/>
        </p:spPr>
        <p:txBody>
          <a:bodyPr wrap="square" rtlCol="0" anchor="ctr"/>
          <a:lstStyle/>
          <a:p>
            <a:pPr indent="0" marL="0">
              <a:buNone/>
            </a:pPr>
            <a:r>
              <a:rPr lang="en-US" sz="1100" b="1" spc="400" kern="0" dirty="0">
                <a:solidFill>
                  <a:srgbClr val="FCA5A5"/>
                </a:solidFill>
              </a:rPr>
              <a:t>SECTION</a:t>
            </a:r>
            <a:endParaRPr lang="en-US" sz="1100" dirty="0"/>
          </a:p>
        </p:txBody>
      </p:sp>
      <p:sp>
        <p:nvSpPr>
          <p:cNvPr id="4" name="Text 2"/>
          <p:cNvSpPr/>
          <p:nvPr/>
        </p:nvSpPr>
        <p:spPr>
          <a:xfrm>
            <a:off x="640080" y="2651760"/>
            <a:ext cx="8229600" cy="1280160"/>
          </a:xfrm>
          <a:prstGeom prst="rect">
            <a:avLst/>
          </a:prstGeom>
          <a:noFill/>
          <a:ln/>
        </p:spPr>
        <p:txBody>
          <a:bodyPr wrap="square" rtlCol="0" anchor="ctr"/>
          <a:lstStyle/>
          <a:p>
            <a:pPr indent="0" marL="0">
              <a:buNone/>
            </a:pPr>
            <a:r>
              <a:rPr lang="en-US" sz="4200" b="1" spc="-100" kern="0" dirty="0">
                <a:solidFill>
                  <a:srgbClr val="FFFFFF"/>
                </a:solidFill>
              </a:rPr>
              <a:t>Admin Dashboard</a:t>
            </a:r>
            <a:endParaRPr lang="en-US" sz="4200" dirty="0"/>
          </a:p>
        </p:txBody>
      </p:sp>
      <p:sp>
        <p:nvSpPr>
          <p:cNvPr id="5" name="Shape 3"/>
          <p:cNvSpPr/>
          <p:nvPr/>
        </p:nvSpPr>
        <p:spPr>
          <a:xfrm>
            <a:off x="640080" y="4069080"/>
            <a:ext cx="1097280" cy="54864"/>
          </a:xfrm>
          <a:prstGeom prst="rect">
            <a:avLst/>
          </a:prstGeom>
          <a:solidFill>
            <a:srgbClr val="FFFFFF"/>
          </a:solidFill>
          <a:ln w="12700">
            <a:solidFill>
              <a:srgbClr val="FFFFFF"/>
            </a:solidFill>
            <a:prstDash val="solid"/>
          </a:ln>
        </p:spPr>
      </p:sp>
      <p:sp>
        <p:nvSpPr>
          <p:cNvPr id="6" name="Text 4"/>
          <p:cNvSpPr/>
          <p:nvPr/>
        </p:nvSpPr>
        <p:spPr>
          <a:xfrm>
            <a:off x="640080" y="4251960"/>
            <a:ext cx="8229600" cy="914400"/>
          </a:xfrm>
          <a:prstGeom prst="rect">
            <a:avLst/>
          </a:prstGeom>
          <a:noFill/>
          <a:ln/>
        </p:spPr>
        <p:txBody>
          <a:bodyPr wrap="square" rtlCol="0" anchor="ctr"/>
          <a:lstStyle/>
          <a:p>
            <a:pPr indent="0" marL="0">
              <a:buNone/>
            </a:pPr>
            <a:r>
              <a:rPr lang="en-US" sz="1500" dirty="0">
                <a:solidFill>
                  <a:srgbClr val="FEE2E2"/>
                </a:solidFill>
              </a:rPr>
              <a:t>Secure, role-based access for TCS administrators to review, action, and export all requisition records.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4663440" cy="6858000"/>
          </a:xfrm>
          <a:prstGeom prst="rect">
            <a:avLst/>
          </a:prstGeom>
          <a:solidFill>
            <a:srgbClr val="1E293B"/>
          </a:solidFill>
          <a:ln w="12700">
            <a:solidFill>
              <a:srgbClr val="1E293B"/>
            </a:solidFill>
            <a:prstDash val="solid"/>
          </a:ln>
        </p:spPr>
      </p:sp>
      <p:sp>
        <p:nvSpPr>
          <p:cNvPr id="3" name="Shape 1"/>
          <p:cNvSpPr/>
          <p:nvPr/>
        </p:nvSpPr>
        <p:spPr>
          <a:xfrm>
            <a:off x="0" y="0"/>
            <a:ext cx="64008" cy="6858000"/>
          </a:xfrm>
          <a:prstGeom prst="rect">
            <a:avLst/>
          </a:prstGeom>
          <a:solidFill>
            <a:srgbClr val="DC2626"/>
          </a:solidFill>
          <a:ln w="12700">
            <a:solidFill>
              <a:srgbClr val="DC2626"/>
            </a:solidFill>
            <a:prstDash val="solid"/>
          </a:ln>
        </p:spPr>
      </p:sp>
      <p:sp>
        <p:nvSpPr>
          <p:cNvPr id="4" name="Text 2"/>
          <p:cNvSpPr/>
          <p:nvPr/>
        </p:nvSpPr>
        <p:spPr>
          <a:xfrm>
            <a:off x="274320" y="502920"/>
            <a:ext cx="4206240" cy="274320"/>
          </a:xfrm>
          <a:prstGeom prst="rect">
            <a:avLst/>
          </a:prstGeom>
          <a:noFill/>
          <a:ln/>
        </p:spPr>
        <p:txBody>
          <a:bodyPr wrap="square" rtlCol="0" anchor="ctr"/>
          <a:lstStyle/>
          <a:p>
            <a:pPr indent="0" marL="0">
              <a:buNone/>
            </a:pPr>
            <a:r>
              <a:rPr lang="en-US" sz="900" b="1" spc="150" kern="0" dirty="0">
                <a:solidFill>
                  <a:srgbClr val="DC2626"/>
                </a:solidFill>
              </a:rPr>
              <a:t>03 / ADMIN — SECURE LOGIN</a:t>
            </a:r>
            <a:endParaRPr lang="en-US" sz="900" dirty="0"/>
          </a:p>
        </p:txBody>
      </p:sp>
      <p:sp>
        <p:nvSpPr>
          <p:cNvPr id="5" name="Text 3"/>
          <p:cNvSpPr/>
          <p:nvPr/>
        </p:nvSpPr>
        <p:spPr>
          <a:xfrm>
            <a:off x="274320" y="868680"/>
            <a:ext cx="4114800" cy="1097280"/>
          </a:xfrm>
          <a:prstGeom prst="rect">
            <a:avLst/>
          </a:prstGeom>
          <a:noFill/>
          <a:ln/>
        </p:spPr>
        <p:txBody>
          <a:bodyPr wrap="square" rtlCol="0" anchor="ctr"/>
          <a:lstStyle/>
          <a:p>
            <a:pPr indent="0" marL="0">
              <a:buNone/>
            </a:pPr>
            <a:r>
              <a:rPr lang="en-US" sz="2200" b="1" spc="-50" kern="0" dirty="0">
                <a:solidFill>
                  <a:srgbClr val="FFFFFF"/>
                </a:solidFill>
              </a:rPr>
              <a:t>Admin Login Page</a:t>
            </a:r>
            <a:endParaRPr lang="en-US" sz="2200" dirty="0"/>
          </a:p>
        </p:txBody>
      </p:sp>
      <p:sp>
        <p:nvSpPr>
          <p:cNvPr id="6" name="Text 4"/>
          <p:cNvSpPr/>
          <p:nvPr/>
        </p:nvSpPr>
        <p:spPr>
          <a:xfrm>
            <a:off x="274320" y="2057400"/>
            <a:ext cx="4114800" cy="1097280"/>
          </a:xfrm>
          <a:prstGeom prst="rect">
            <a:avLst/>
          </a:prstGeom>
          <a:noFill/>
          <a:ln/>
        </p:spPr>
        <p:txBody>
          <a:bodyPr wrap="square" rtlCol="0" anchor="ctr"/>
          <a:lstStyle/>
          <a:p>
            <a:pPr indent="0" marL="0">
              <a:lnSpc>
                <a:spcPct val="140000"/>
              </a:lnSpc>
              <a:buNone/>
            </a:pPr>
            <a:r>
              <a:rPr lang="en-US" sz="1100" dirty="0">
                <a:solidFill>
                  <a:srgbClr val="94A3B8"/>
                </a:solidFill>
              </a:rPr>
              <a:t>Only authorised TCS staff can access the dashboard. The login page uses Supabase Auth with email and password authentication, and is excluded from search engine indexing.</a:t>
            </a:r>
            <a:endParaRPr lang="en-US" sz="1100" dirty="0"/>
          </a:p>
        </p:txBody>
      </p:sp>
      <p:sp>
        <p:nvSpPr>
          <p:cNvPr id="7" name="Text 5"/>
          <p:cNvSpPr/>
          <p:nvPr/>
        </p:nvSpPr>
        <p:spPr>
          <a:xfrm>
            <a:off x="274320" y="3246120"/>
            <a:ext cx="4114800" cy="3200400"/>
          </a:xfrm>
          <a:prstGeom prst="rect">
            <a:avLst/>
          </a:prstGeom>
          <a:noFill/>
          <a:ln/>
        </p:spPr>
        <p:txBody>
          <a:bodyPr wrap="square" rtlCol="0" anchor="ctr"/>
          <a:lstStyle/>
          <a:p>
            <a:pPr marL="190500" indent="-190500">
              <a:lnSpc>
                <a:spcPct val="130000"/>
              </a:lnSpc>
              <a:spcAft>
                <a:spcPts val="400"/>
              </a:spcAft>
              <a:buSzPct val="100000"/>
              <a:buFont typeface="+mj-lt"/>
              <a:buAutoNum type="arabicPeriod" startAt="1"/>
            </a:pPr>
            <a:r>
              <a:rPr lang="en-US" sz="1100" dirty="0">
                <a:solidFill>
                  <a:srgbClr val="CBD5E1"/>
                </a:solidFill>
              </a:rPr>
              <a:t>Email + password authentication via Supabase Auth</a:t>
            </a:r>
            <a:endParaRPr lang="en-US" sz="1100" dirty="0"/>
          </a:p>
          <a:p>
            <a:pPr marL="190500" indent="-190500">
              <a:lnSpc>
                <a:spcPct val="130000"/>
              </a:lnSpc>
              <a:spcAft>
                <a:spcPts val="400"/>
              </a:spcAft>
              <a:buSzPct val="100000"/>
              <a:buFont typeface="+mj-lt"/>
              <a:buAutoNum type="arabicPeriod" startAt="1"/>
            </a:pPr>
            <a:r>
              <a:rPr lang="en-US" sz="1100" dirty="0">
                <a:solidFill>
                  <a:srgbClr val="CBD5E1"/>
                </a:solidFill>
              </a:rPr>
              <a:t>Password visibility toggle (show/hide eye icon)</a:t>
            </a:r>
            <a:endParaRPr lang="en-US" sz="1100" dirty="0"/>
          </a:p>
          <a:p>
            <a:pPr marL="190500" indent="-190500">
              <a:lnSpc>
                <a:spcPct val="130000"/>
              </a:lnSpc>
              <a:spcAft>
                <a:spcPts val="400"/>
              </a:spcAft>
              <a:buSzPct val="100000"/>
              <a:buFont typeface="+mj-lt"/>
              <a:buAutoNum type="arabicPeriod" startAt="1"/>
            </a:pPr>
            <a:r>
              <a:rPr lang="en-US" sz="1100" dirty="0">
                <a:solidFill>
                  <a:srgbClr val="CBD5E1"/>
                </a:solidFill>
              </a:rPr>
              <a:t>Clear error messaging on invalid credentials</a:t>
            </a:r>
            <a:endParaRPr lang="en-US" sz="1100" dirty="0"/>
          </a:p>
          <a:p>
            <a:pPr marL="190500" indent="-190500">
              <a:lnSpc>
                <a:spcPct val="130000"/>
              </a:lnSpc>
              <a:spcAft>
                <a:spcPts val="400"/>
              </a:spcAft>
              <a:buSzPct val="100000"/>
              <a:buFont typeface="+mj-lt"/>
              <a:buAutoNum type="arabicPeriod" startAt="1"/>
            </a:pPr>
            <a:r>
              <a:rPr lang="en-US" sz="1100" dirty="0">
                <a:solidFill>
                  <a:srgbClr val="CBD5E1"/>
                </a:solidFill>
              </a:rPr>
              <a:t>robots: noindex — never appears in Google search</a:t>
            </a:r>
            <a:endParaRPr lang="en-US" sz="1100" dirty="0"/>
          </a:p>
          <a:p>
            <a:pPr marL="190500" indent="-190500">
              <a:lnSpc>
                <a:spcPct val="130000"/>
              </a:lnSpc>
              <a:spcAft>
                <a:spcPts val="400"/>
              </a:spcAft>
              <a:buSzPct val="100000"/>
              <a:buFont typeface="+mj-lt"/>
              <a:buAutoNum type="arabicPeriod" startAt="1"/>
            </a:pPr>
            <a:r>
              <a:rPr lang="en-US" sz="1100" dirty="0">
                <a:solidFill>
                  <a:srgbClr val="CBD5E1"/>
                </a:solidFill>
              </a:rPr>
              <a:t>Redirects to the Requisitions dashboard on success</a:t>
            </a:r>
            <a:endParaRPr lang="en-US" sz="1100" dirty="0"/>
          </a:p>
        </p:txBody>
      </p:sp>
      <p:pic>
        <p:nvPicPr>
          <p:cNvPr id="8" name="Image 0" descr="/Users/hajajkhan/Downloads/RetailRequisition/presentation/screenshots/03_login.png">    </p:cNvPr>
          <p:cNvPicPr>
            <a:picLocks noChangeAspect="1"/>
          </p:cNvPicPr>
          <p:nvPr/>
        </p:nvPicPr>
        <p:blipFill>
          <a:blip r:embed="rId1"/>
          <a:stretch>
            <a:fillRect/>
          </a:stretch>
        </p:blipFill>
        <p:spPr>
          <a:xfrm>
            <a:off x="4846320" y="274320"/>
            <a:ext cx="7132320" cy="6309360"/>
          </a:xfrm>
          <a:prstGeom prst="rect">
            <a:avLst/>
          </a:prstGeom>
        </p:spPr>
      </p:pic>
      <p:sp>
        <p:nvSpPr>
          <p:cNvPr id="9" name="Text 6"/>
          <p:cNvSpPr/>
          <p:nvPr/>
        </p:nvSpPr>
        <p:spPr>
          <a:xfrm>
            <a:off x="11704320" y="6492240"/>
            <a:ext cx="365760" cy="256032"/>
          </a:xfrm>
          <a:prstGeom prst="rect">
            <a:avLst/>
          </a:prstGeom>
          <a:noFill/>
          <a:ln/>
        </p:spPr>
        <p:txBody>
          <a:bodyPr wrap="square" rtlCol="0" anchor="ctr"/>
          <a:lstStyle/>
          <a:p>
            <a:pPr algn="r" indent="0" marL="0">
              <a:buNone/>
            </a:pPr>
            <a:r>
              <a:rPr lang="en-US" sz="900" dirty="0">
                <a:solidFill>
                  <a:srgbClr val="334155"/>
                </a:solidFill>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4663440" cy="6858000"/>
          </a:xfrm>
          <a:prstGeom prst="rect">
            <a:avLst/>
          </a:prstGeom>
          <a:solidFill>
            <a:srgbClr val="1E293B"/>
          </a:solidFill>
          <a:ln w="12700">
            <a:solidFill>
              <a:srgbClr val="1E293B"/>
            </a:solidFill>
            <a:prstDash val="solid"/>
          </a:ln>
        </p:spPr>
      </p:sp>
      <p:sp>
        <p:nvSpPr>
          <p:cNvPr id="3" name="Shape 1"/>
          <p:cNvSpPr/>
          <p:nvPr/>
        </p:nvSpPr>
        <p:spPr>
          <a:xfrm>
            <a:off x="0" y="0"/>
            <a:ext cx="64008" cy="6858000"/>
          </a:xfrm>
          <a:prstGeom prst="rect">
            <a:avLst/>
          </a:prstGeom>
          <a:solidFill>
            <a:srgbClr val="DC2626"/>
          </a:solidFill>
          <a:ln w="12700">
            <a:solidFill>
              <a:srgbClr val="DC2626"/>
            </a:solidFill>
            <a:prstDash val="solid"/>
          </a:ln>
        </p:spPr>
      </p:sp>
      <p:sp>
        <p:nvSpPr>
          <p:cNvPr id="4" name="Text 2"/>
          <p:cNvSpPr/>
          <p:nvPr/>
        </p:nvSpPr>
        <p:spPr>
          <a:xfrm>
            <a:off x="274320" y="502920"/>
            <a:ext cx="4206240" cy="274320"/>
          </a:xfrm>
          <a:prstGeom prst="rect">
            <a:avLst/>
          </a:prstGeom>
          <a:noFill/>
          <a:ln/>
        </p:spPr>
        <p:txBody>
          <a:bodyPr wrap="square" rtlCol="0" anchor="ctr"/>
          <a:lstStyle/>
          <a:p>
            <a:pPr indent="0" marL="0">
              <a:buNone/>
            </a:pPr>
            <a:r>
              <a:rPr lang="en-US" sz="900" b="1" spc="150" kern="0" dirty="0">
                <a:solidFill>
                  <a:srgbClr val="DC2626"/>
                </a:solidFill>
              </a:rPr>
              <a:t>04 / ADMIN — REQUISITIONS DASHBOARD</a:t>
            </a:r>
            <a:endParaRPr lang="en-US" sz="900" dirty="0"/>
          </a:p>
        </p:txBody>
      </p:sp>
      <p:sp>
        <p:nvSpPr>
          <p:cNvPr id="5" name="Text 3"/>
          <p:cNvSpPr/>
          <p:nvPr/>
        </p:nvSpPr>
        <p:spPr>
          <a:xfrm>
            <a:off x="274320" y="868680"/>
            <a:ext cx="4114800" cy="1097280"/>
          </a:xfrm>
          <a:prstGeom prst="rect">
            <a:avLst/>
          </a:prstGeom>
          <a:noFill/>
          <a:ln/>
        </p:spPr>
        <p:txBody>
          <a:bodyPr wrap="square" rtlCol="0" anchor="ctr"/>
          <a:lstStyle/>
          <a:p>
            <a:pPr indent="0" marL="0">
              <a:buNone/>
            </a:pPr>
            <a:r>
              <a:rPr lang="en-US" sz="2200" b="1" spc="-50" kern="0" dirty="0">
                <a:solidFill>
                  <a:srgbClr val="FFFFFF"/>
                </a:solidFill>
              </a:rPr>
              <a:t>Main Requisitions Table</a:t>
            </a:r>
            <a:endParaRPr lang="en-US" sz="2200" dirty="0"/>
          </a:p>
        </p:txBody>
      </p:sp>
      <p:sp>
        <p:nvSpPr>
          <p:cNvPr id="6" name="Text 4"/>
          <p:cNvSpPr/>
          <p:nvPr/>
        </p:nvSpPr>
        <p:spPr>
          <a:xfrm>
            <a:off x="274320" y="2057400"/>
            <a:ext cx="4114800" cy="1097280"/>
          </a:xfrm>
          <a:prstGeom prst="rect">
            <a:avLst/>
          </a:prstGeom>
          <a:noFill/>
          <a:ln/>
        </p:spPr>
        <p:txBody>
          <a:bodyPr wrap="square" rtlCol="0" anchor="ctr"/>
          <a:lstStyle/>
          <a:p>
            <a:pPr indent="0" marL="0">
              <a:lnSpc>
                <a:spcPct val="140000"/>
              </a:lnSpc>
              <a:buNone/>
            </a:pPr>
            <a:r>
              <a:rPr lang="en-US" sz="1100" dirty="0">
                <a:solidFill>
                  <a:srgbClr val="94A3B8"/>
                </a:solidFill>
              </a:rPr>
              <a:t>The central hub for all admin activity. Every submission appears in a filterable, searchable table. Admins can filter by status, region, and date range.</a:t>
            </a:r>
            <a:endParaRPr lang="en-US" sz="1100" dirty="0"/>
          </a:p>
        </p:txBody>
      </p:sp>
      <p:sp>
        <p:nvSpPr>
          <p:cNvPr id="7" name="Text 5"/>
          <p:cNvSpPr/>
          <p:nvPr/>
        </p:nvSpPr>
        <p:spPr>
          <a:xfrm>
            <a:off x="274320" y="3246120"/>
            <a:ext cx="4114800" cy="3200400"/>
          </a:xfrm>
          <a:prstGeom prst="rect">
            <a:avLst/>
          </a:prstGeom>
          <a:noFill/>
          <a:ln/>
        </p:spPr>
        <p:txBody>
          <a:bodyPr wrap="square" rtlCol="0" anchor="ctr"/>
          <a:lstStyle/>
          <a:p>
            <a:pPr marL="190500" indent="-190500">
              <a:lnSpc>
                <a:spcPct val="130000"/>
              </a:lnSpc>
              <a:spcAft>
                <a:spcPts val="400"/>
              </a:spcAft>
              <a:buSzPct val="100000"/>
              <a:buFont typeface="+mj-lt"/>
              <a:buAutoNum type="arabicPeriod" startAt="1"/>
            </a:pPr>
            <a:r>
              <a:rPr lang="en-US" sz="1100" dirty="0">
                <a:solidFill>
                  <a:srgbClr val="CBD5E1"/>
                </a:solidFill>
              </a:rPr>
              <a:t>Live search across Route Code, EMP Code, Location, Origin</a:t>
            </a:r>
            <a:endParaRPr lang="en-US" sz="1100" dirty="0"/>
          </a:p>
          <a:p>
            <a:pPr marL="190500" indent="-190500">
              <a:lnSpc>
                <a:spcPct val="130000"/>
              </a:lnSpc>
              <a:spcAft>
                <a:spcPts val="400"/>
              </a:spcAft>
              <a:buSzPct val="100000"/>
              <a:buFont typeface="+mj-lt"/>
              <a:buAutoNum type="arabicPeriod" startAt="1"/>
            </a:pPr>
            <a:r>
              <a:rPr lang="en-US" sz="1100" dirty="0">
                <a:solidFill>
                  <a:srgbClr val="CBD5E1"/>
                </a:solidFill>
              </a:rPr>
              <a:t>Status filter: All / Pending / Approved / Rejected</a:t>
            </a:r>
            <a:endParaRPr lang="en-US" sz="1100" dirty="0"/>
          </a:p>
          <a:p>
            <a:pPr marL="190500" indent="-190500">
              <a:lnSpc>
                <a:spcPct val="130000"/>
              </a:lnSpc>
              <a:spcAft>
                <a:spcPts val="400"/>
              </a:spcAft>
              <a:buSzPct val="100000"/>
              <a:buFont typeface="+mj-lt"/>
              <a:buAutoNum type="arabicPeriod" startAt="1"/>
            </a:pPr>
            <a:r>
              <a:rPr lang="en-US" sz="1100" dirty="0">
                <a:solidFill>
                  <a:srgbClr val="CBD5E1"/>
                </a:solidFill>
              </a:rPr>
              <a:t>Time filter: Today / Yesterday / Last 7 Days / Last 30 Days / Custom Range</a:t>
            </a:r>
            <a:endParaRPr lang="en-US" sz="1100" dirty="0"/>
          </a:p>
          <a:p>
            <a:pPr marL="190500" indent="-190500">
              <a:lnSpc>
                <a:spcPct val="130000"/>
              </a:lnSpc>
              <a:spcAft>
                <a:spcPts val="400"/>
              </a:spcAft>
              <a:buSzPct val="100000"/>
              <a:buFont typeface="+mj-lt"/>
              <a:buAutoNum type="arabicPeriod" startAt="1"/>
            </a:pPr>
            <a:r>
              <a:rPr lang="en-US" sz="1100" dirty="0">
                <a:solidFill>
                  <a:srgbClr val="CBD5E1"/>
                </a:solidFill>
              </a:rPr>
              <a:t>Region multi-select filter (Super Admin only)</a:t>
            </a:r>
            <a:endParaRPr lang="en-US" sz="1100" dirty="0"/>
          </a:p>
          <a:p>
            <a:pPr marL="190500" indent="-190500">
              <a:lnSpc>
                <a:spcPct val="130000"/>
              </a:lnSpc>
              <a:spcAft>
                <a:spcPts val="400"/>
              </a:spcAft>
              <a:buSzPct val="100000"/>
              <a:buFont typeface="+mj-lt"/>
              <a:buAutoNum type="arabicPeriod" startAt="1"/>
            </a:pPr>
            <a:r>
              <a:rPr lang="en-US" sz="1100" dirty="0">
                <a:solidFill>
                  <a:srgbClr val="CBD5E1"/>
                </a:solidFill>
              </a:rPr>
              <a:t>Pagination with configurable page sizes</a:t>
            </a:r>
            <a:endParaRPr lang="en-US" sz="1100" dirty="0"/>
          </a:p>
          <a:p>
            <a:pPr marL="190500" indent="-190500">
              <a:lnSpc>
                <a:spcPct val="130000"/>
              </a:lnSpc>
              <a:spcAft>
                <a:spcPts val="400"/>
              </a:spcAft>
              <a:buSzPct val="100000"/>
              <a:buFont typeface="+mj-lt"/>
              <a:buAutoNum type="arabicPeriod" startAt="1"/>
            </a:pPr>
            <a:r>
              <a:rPr lang="en-US" sz="1100" dirty="0">
                <a:solidFill>
                  <a:srgbClr val="CBD5E1"/>
                </a:solidFill>
              </a:rPr>
              <a:t>Totals bar showing Grand Total sum for filtered view</a:t>
            </a:r>
            <a:endParaRPr lang="en-US" sz="1100" dirty="0"/>
          </a:p>
        </p:txBody>
      </p:sp>
      <p:pic>
        <p:nvPicPr>
          <p:cNvPr id="8" name="Image 0" descr="/Users/hajajkhan/Downloads/RetailRequisition/presentation/screenshots/04_dashboard.png">    </p:cNvPr>
          <p:cNvPicPr>
            <a:picLocks noChangeAspect="1"/>
          </p:cNvPicPr>
          <p:nvPr/>
        </p:nvPicPr>
        <p:blipFill>
          <a:blip r:embed="rId1"/>
          <a:stretch>
            <a:fillRect/>
          </a:stretch>
        </p:blipFill>
        <p:spPr>
          <a:xfrm>
            <a:off x="4846320" y="274320"/>
            <a:ext cx="7132320" cy="6309360"/>
          </a:xfrm>
          <a:prstGeom prst="rect">
            <a:avLst/>
          </a:prstGeom>
        </p:spPr>
      </p:pic>
      <p:sp>
        <p:nvSpPr>
          <p:cNvPr id="9" name="Text 6"/>
          <p:cNvSpPr/>
          <p:nvPr/>
        </p:nvSpPr>
        <p:spPr>
          <a:xfrm>
            <a:off x="11704320" y="6492240"/>
            <a:ext cx="365760" cy="256032"/>
          </a:xfrm>
          <a:prstGeom prst="rect">
            <a:avLst/>
          </a:prstGeom>
          <a:noFill/>
          <a:ln/>
        </p:spPr>
        <p:txBody>
          <a:bodyPr wrap="square" rtlCol="0" anchor="ctr"/>
          <a:lstStyle/>
          <a:p>
            <a:pPr algn="r" indent="0" marL="0">
              <a:buNone/>
            </a:pPr>
            <a:r>
              <a:rPr lang="en-US" sz="900" dirty="0">
                <a:solidFill>
                  <a:srgbClr val="334155"/>
                </a:solidFill>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4663440" cy="6858000"/>
          </a:xfrm>
          <a:prstGeom prst="rect">
            <a:avLst/>
          </a:prstGeom>
          <a:solidFill>
            <a:srgbClr val="1E293B"/>
          </a:solidFill>
          <a:ln w="12700">
            <a:solidFill>
              <a:srgbClr val="1E293B"/>
            </a:solidFill>
            <a:prstDash val="solid"/>
          </a:ln>
        </p:spPr>
      </p:sp>
      <p:sp>
        <p:nvSpPr>
          <p:cNvPr id="3" name="Shape 1"/>
          <p:cNvSpPr/>
          <p:nvPr/>
        </p:nvSpPr>
        <p:spPr>
          <a:xfrm>
            <a:off x="0" y="0"/>
            <a:ext cx="64008" cy="6858000"/>
          </a:xfrm>
          <a:prstGeom prst="rect">
            <a:avLst/>
          </a:prstGeom>
          <a:solidFill>
            <a:srgbClr val="DC2626"/>
          </a:solidFill>
          <a:ln w="12700">
            <a:solidFill>
              <a:srgbClr val="DC2626"/>
            </a:solidFill>
            <a:prstDash val="solid"/>
          </a:ln>
        </p:spPr>
      </p:sp>
      <p:sp>
        <p:nvSpPr>
          <p:cNvPr id="4" name="Text 2"/>
          <p:cNvSpPr/>
          <p:nvPr/>
        </p:nvSpPr>
        <p:spPr>
          <a:xfrm>
            <a:off x="274320" y="502920"/>
            <a:ext cx="4206240" cy="274320"/>
          </a:xfrm>
          <a:prstGeom prst="rect">
            <a:avLst/>
          </a:prstGeom>
          <a:noFill/>
          <a:ln/>
        </p:spPr>
        <p:txBody>
          <a:bodyPr wrap="square" rtlCol="0" anchor="ctr"/>
          <a:lstStyle/>
          <a:p>
            <a:pPr indent="0" marL="0">
              <a:buNone/>
            </a:pPr>
            <a:r>
              <a:rPr lang="en-US" sz="900" b="1" spc="150" kern="0" dirty="0">
                <a:solidFill>
                  <a:srgbClr val="DC2626"/>
                </a:solidFill>
              </a:rPr>
              <a:t>04 / ADMIN — ACTIONS &amp; EXPORTS</a:t>
            </a:r>
            <a:endParaRPr lang="en-US" sz="900" dirty="0"/>
          </a:p>
        </p:txBody>
      </p:sp>
      <p:sp>
        <p:nvSpPr>
          <p:cNvPr id="5" name="Text 3"/>
          <p:cNvSpPr/>
          <p:nvPr/>
        </p:nvSpPr>
        <p:spPr>
          <a:xfrm>
            <a:off x="274320" y="868680"/>
            <a:ext cx="4114800" cy="1097280"/>
          </a:xfrm>
          <a:prstGeom prst="rect">
            <a:avLst/>
          </a:prstGeom>
          <a:noFill/>
          <a:ln/>
        </p:spPr>
        <p:txBody>
          <a:bodyPr wrap="square" rtlCol="0" anchor="ctr"/>
          <a:lstStyle/>
          <a:p>
            <a:pPr indent="0" marL="0">
              <a:buNone/>
            </a:pPr>
            <a:r>
              <a:rPr lang="en-US" sz="2200" b="1" spc="-50" kern="0" dirty="0">
                <a:solidFill>
                  <a:srgbClr val="FFFFFF"/>
                </a:solidFill>
              </a:rPr>
              <a:t>Approve, Export &amp; Bulk Delete</a:t>
            </a:r>
            <a:endParaRPr lang="en-US" sz="2200" dirty="0"/>
          </a:p>
        </p:txBody>
      </p:sp>
      <p:sp>
        <p:nvSpPr>
          <p:cNvPr id="6" name="Text 4"/>
          <p:cNvSpPr/>
          <p:nvPr/>
        </p:nvSpPr>
        <p:spPr>
          <a:xfrm>
            <a:off x="274320" y="2057400"/>
            <a:ext cx="4114800" cy="1097280"/>
          </a:xfrm>
          <a:prstGeom prst="rect">
            <a:avLst/>
          </a:prstGeom>
          <a:noFill/>
          <a:ln/>
        </p:spPr>
        <p:txBody>
          <a:bodyPr wrap="square" rtlCol="0" anchor="ctr"/>
          <a:lstStyle/>
          <a:p>
            <a:pPr indent="0" marL="0">
              <a:lnSpc>
                <a:spcPct val="140000"/>
              </a:lnSpc>
              <a:buNone/>
            </a:pPr>
            <a:r>
              <a:rPr lang="en-US" sz="1100" dirty="0">
                <a:solidFill>
                  <a:srgbClr val="94A3B8"/>
                </a:solidFill>
              </a:rPr>
              <a:t>Admins can take action on individual records or in bulk. Three export formats are available at any time. Super Admin and Head roles can permanently delete records to save database space.</a:t>
            </a:r>
            <a:endParaRPr lang="en-US" sz="1100" dirty="0"/>
          </a:p>
        </p:txBody>
      </p:sp>
      <p:sp>
        <p:nvSpPr>
          <p:cNvPr id="7" name="Text 5"/>
          <p:cNvSpPr/>
          <p:nvPr/>
        </p:nvSpPr>
        <p:spPr>
          <a:xfrm>
            <a:off x="274320" y="3246120"/>
            <a:ext cx="4114800" cy="3200400"/>
          </a:xfrm>
          <a:prstGeom prst="rect">
            <a:avLst/>
          </a:prstGeom>
          <a:noFill/>
          <a:ln/>
        </p:spPr>
        <p:txBody>
          <a:bodyPr wrap="square" rtlCol="0" anchor="ctr"/>
          <a:lstStyle/>
          <a:p>
            <a:pPr marL="190500" indent="-190500">
              <a:lnSpc>
                <a:spcPct val="130000"/>
              </a:lnSpc>
              <a:spcAft>
                <a:spcPts val="400"/>
              </a:spcAft>
              <a:buSzPct val="100000"/>
              <a:buFont typeface="+mj-lt"/>
              <a:buAutoNum type="arabicPeriod" startAt="1"/>
            </a:pPr>
            <a:r>
              <a:rPr lang="en-US" sz="1100" dirty="0">
                <a:solidFill>
                  <a:srgbClr val="CBD5E1"/>
                </a:solidFill>
              </a:rPr>
              <a:t>Print (Blue) — formatted print view of all filtered records</a:t>
            </a:r>
            <a:endParaRPr lang="en-US" sz="1100" dirty="0"/>
          </a:p>
          <a:p>
            <a:pPr marL="190500" indent="-190500">
              <a:lnSpc>
                <a:spcPct val="130000"/>
              </a:lnSpc>
              <a:spcAft>
                <a:spcPts val="400"/>
              </a:spcAft>
              <a:buSzPct val="100000"/>
              <a:buFont typeface="+mj-lt"/>
              <a:buAutoNum type="arabicPeriod" startAt="1"/>
            </a:pPr>
            <a:r>
              <a:rPr lang="en-US" sz="1100" dirty="0">
                <a:solidFill>
                  <a:srgbClr val="CBD5E1"/>
                </a:solidFill>
              </a:rPr>
              <a:t>Excel (Green) — multi-sheet workbook grouped by EMP category</a:t>
            </a:r>
            <a:endParaRPr lang="en-US" sz="1100" dirty="0"/>
          </a:p>
          <a:p>
            <a:pPr marL="190500" indent="-190500">
              <a:lnSpc>
                <a:spcPct val="130000"/>
              </a:lnSpc>
              <a:spcAft>
                <a:spcPts val="400"/>
              </a:spcAft>
              <a:buSzPct val="100000"/>
              <a:buFont typeface="+mj-lt"/>
              <a:buAutoNum type="arabicPeriod" startAt="1"/>
            </a:pPr>
            <a:r>
              <a:rPr lang="en-US" sz="1100" dirty="0">
                <a:solidFill>
                  <a:srgbClr val="CBD5E1"/>
                </a:solidFill>
              </a:rPr>
              <a:t>Deduction (Red) — CSV of all approved records for payroll</a:t>
            </a:r>
            <a:endParaRPr lang="en-US" sz="1100" dirty="0"/>
          </a:p>
          <a:p>
            <a:pPr marL="190500" indent="-190500">
              <a:lnSpc>
                <a:spcPct val="130000"/>
              </a:lnSpc>
              <a:spcAft>
                <a:spcPts val="400"/>
              </a:spcAft>
              <a:buSzPct val="100000"/>
              <a:buFont typeface="+mj-lt"/>
              <a:buAutoNum type="arabicPeriod" startAt="1"/>
            </a:pPr>
            <a:r>
              <a:rPr lang="en-US" sz="1100" dirty="0">
                <a:solidFill>
                  <a:srgbClr val="CBD5E1"/>
                </a:solidFill>
              </a:rPr>
              <a:t>Checkboxes for bulk-select with a red Delete toolbar</a:t>
            </a:r>
            <a:endParaRPr lang="en-US" sz="1100" dirty="0"/>
          </a:p>
          <a:p>
            <a:pPr marL="190500" indent="-190500">
              <a:lnSpc>
                <a:spcPct val="130000"/>
              </a:lnSpc>
              <a:spcAft>
                <a:spcPts val="400"/>
              </a:spcAft>
              <a:buSzPct val="100000"/>
              <a:buFont typeface="+mj-lt"/>
              <a:buAutoNum type="arabicPeriod" startAt="1"/>
            </a:pPr>
            <a:r>
              <a:rPr lang="en-US" sz="1100" dirty="0">
                <a:solidFill>
                  <a:srgbClr val="CBD5E1"/>
                </a:solidFill>
              </a:rPr>
              <a:t>Confirmation modal warns when approved records selected</a:t>
            </a:r>
            <a:endParaRPr lang="en-US" sz="1100" dirty="0"/>
          </a:p>
        </p:txBody>
      </p:sp>
      <p:pic>
        <p:nvPicPr>
          <p:cNvPr id="8" name="Image 0" descr="/Users/hajajkhan/Downloads/RetailRequisition/presentation/screenshots/04b_dashboard_table.png">    </p:cNvPr>
          <p:cNvPicPr>
            <a:picLocks noChangeAspect="1"/>
          </p:cNvPicPr>
          <p:nvPr/>
        </p:nvPicPr>
        <p:blipFill>
          <a:blip r:embed="rId1"/>
          <a:stretch>
            <a:fillRect/>
          </a:stretch>
        </p:blipFill>
        <p:spPr>
          <a:xfrm>
            <a:off x="4846320" y="274320"/>
            <a:ext cx="7132320" cy="6309360"/>
          </a:xfrm>
          <a:prstGeom prst="rect">
            <a:avLst/>
          </a:prstGeom>
        </p:spPr>
      </p:pic>
      <p:sp>
        <p:nvSpPr>
          <p:cNvPr id="9" name="Text 6"/>
          <p:cNvSpPr/>
          <p:nvPr/>
        </p:nvSpPr>
        <p:spPr>
          <a:xfrm>
            <a:off x="11704320" y="6492240"/>
            <a:ext cx="365760" cy="256032"/>
          </a:xfrm>
          <a:prstGeom prst="rect">
            <a:avLst/>
          </a:prstGeom>
          <a:noFill/>
          <a:ln/>
        </p:spPr>
        <p:txBody>
          <a:bodyPr wrap="square" rtlCol="0" anchor="ctr"/>
          <a:lstStyle/>
          <a:p>
            <a:pPr algn="r" indent="0" marL="0">
              <a:buNone/>
            </a:pPr>
            <a:r>
              <a:rPr lang="en-US" sz="900" dirty="0">
                <a:solidFill>
                  <a:srgbClr val="334155"/>
                </a:solidFill>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DC2626"/>
        </a:solidFill>
      </p:bgPr>
    </p:bg>
    <p:spTree>
      <p:nvGrpSpPr>
        <p:cNvPr id="1" name=""/>
        <p:cNvGrpSpPr/>
        <p:nvPr/>
      </p:nvGrpSpPr>
      <p:grpSpPr>
        <a:xfrm>
          <a:off x="0" y="0"/>
          <a:ext cx="0" cy="0"/>
          <a:chOff x="0" y="0"/>
          <a:chExt cx="0" cy="0"/>
        </a:xfrm>
      </p:grpSpPr>
      <p:sp>
        <p:nvSpPr>
          <p:cNvPr id="2" name="Text 0"/>
          <p:cNvSpPr/>
          <p:nvPr/>
        </p:nvSpPr>
        <p:spPr>
          <a:xfrm>
            <a:off x="7772400" y="274320"/>
            <a:ext cx="4114800" cy="3657600"/>
          </a:xfrm>
          <a:prstGeom prst="rect">
            <a:avLst/>
          </a:prstGeom>
          <a:noFill/>
          <a:ln/>
        </p:spPr>
        <p:txBody>
          <a:bodyPr wrap="square" rtlCol="0" anchor="t"/>
          <a:lstStyle/>
          <a:p>
            <a:pPr algn="r" indent="0" marL="0">
              <a:buNone/>
            </a:pPr>
            <a:r>
              <a:rPr lang="en-US" sz="16000" b="1" dirty="0">
                <a:solidFill>
                  <a:srgbClr val="B91C1C"/>
                </a:solidFill>
              </a:rPr>
              <a:t>03</a:t>
            </a:r>
            <a:endParaRPr lang="en-US" sz="16000" dirty="0"/>
          </a:p>
        </p:txBody>
      </p:sp>
      <p:sp>
        <p:nvSpPr>
          <p:cNvPr id="3" name="Text 1"/>
          <p:cNvSpPr/>
          <p:nvPr/>
        </p:nvSpPr>
        <p:spPr>
          <a:xfrm>
            <a:off x="640080" y="2194560"/>
            <a:ext cx="7315200" cy="365760"/>
          </a:xfrm>
          <a:prstGeom prst="rect">
            <a:avLst/>
          </a:prstGeom>
          <a:noFill/>
          <a:ln/>
        </p:spPr>
        <p:txBody>
          <a:bodyPr wrap="square" rtlCol="0" anchor="ctr"/>
          <a:lstStyle/>
          <a:p>
            <a:pPr indent="0" marL="0">
              <a:buNone/>
            </a:pPr>
            <a:r>
              <a:rPr lang="en-US" sz="1100" b="1" spc="400" kern="0" dirty="0">
                <a:solidFill>
                  <a:srgbClr val="FCA5A5"/>
                </a:solidFill>
              </a:rPr>
              <a:t>SECTION</a:t>
            </a:r>
            <a:endParaRPr lang="en-US" sz="1100" dirty="0"/>
          </a:p>
        </p:txBody>
      </p:sp>
      <p:sp>
        <p:nvSpPr>
          <p:cNvPr id="4" name="Text 2"/>
          <p:cNvSpPr/>
          <p:nvPr/>
        </p:nvSpPr>
        <p:spPr>
          <a:xfrm>
            <a:off x="640080" y="2651760"/>
            <a:ext cx="8229600" cy="1280160"/>
          </a:xfrm>
          <a:prstGeom prst="rect">
            <a:avLst/>
          </a:prstGeom>
          <a:noFill/>
          <a:ln/>
        </p:spPr>
        <p:txBody>
          <a:bodyPr wrap="square" rtlCol="0" anchor="ctr"/>
          <a:lstStyle/>
          <a:p>
            <a:pPr indent="0" marL="0">
              <a:buNone/>
            </a:pPr>
            <a:r>
              <a:rPr lang="en-US" sz="4200" b="1" spc="-100" kern="0" dirty="0">
                <a:solidFill>
                  <a:srgbClr val="FFFFFF"/>
                </a:solidFill>
              </a:rPr>
              <a:t>System Management</a:t>
            </a:r>
            <a:endParaRPr lang="en-US" sz="4200" dirty="0"/>
          </a:p>
        </p:txBody>
      </p:sp>
      <p:sp>
        <p:nvSpPr>
          <p:cNvPr id="5" name="Shape 3"/>
          <p:cNvSpPr/>
          <p:nvPr/>
        </p:nvSpPr>
        <p:spPr>
          <a:xfrm>
            <a:off x="640080" y="4069080"/>
            <a:ext cx="1097280" cy="54864"/>
          </a:xfrm>
          <a:prstGeom prst="rect">
            <a:avLst/>
          </a:prstGeom>
          <a:solidFill>
            <a:srgbClr val="FFFFFF"/>
          </a:solidFill>
          <a:ln w="12700">
            <a:solidFill>
              <a:srgbClr val="FFFFFF"/>
            </a:solidFill>
            <a:prstDash val="solid"/>
          </a:ln>
        </p:spPr>
      </p:sp>
      <p:sp>
        <p:nvSpPr>
          <p:cNvPr id="6" name="Text 4"/>
          <p:cNvSpPr/>
          <p:nvPr/>
        </p:nvSpPr>
        <p:spPr>
          <a:xfrm>
            <a:off x="640080" y="4251960"/>
            <a:ext cx="8229600" cy="914400"/>
          </a:xfrm>
          <a:prstGeom prst="rect">
            <a:avLst/>
          </a:prstGeom>
          <a:noFill/>
          <a:ln/>
        </p:spPr>
        <p:txBody>
          <a:bodyPr wrap="square" rtlCol="0" anchor="ctr"/>
          <a:lstStyle/>
          <a:p>
            <a:pPr indent="0" marL="0">
              <a:buNone/>
            </a:pPr>
            <a:r>
              <a:rPr lang="en-US" sz="1500" dirty="0">
                <a:solidFill>
                  <a:srgbClr val="FEE2E2"/>
                </a:solidFill>
              </a:rPr>
              <a:t>Super Admin tools for controlling what appears on the form and who has access to the dashboard.</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4663440" cy="6858000"/>
          </a:xfrm>
          <a:prstGeom prst="rect">
            <a:avLst/>
          </a:prstGeom>
          <a:solidFill>
            <a:srgbClr val="1E293B"/>
          </a:solidFill>
          <a:ln w="12700">
            <a:solidFill>
              <a:srgbClr val="1E293B"/>
            </a:solidFill>
            <a:prstDash val="solid"/>
          </a:ln>
        </p:spPr>
      </p:sp>
      <p:sp>
        <p:nvSpPr>
          <p:cNvPr id="3" name="Shape 1"/>
          <p:cNvSpPr/>
          <p:nvPr/>
        </p:nvSpPr>
        <p:spPr>
          <a:xfrm>
            <a:off x="0" y="0"/>
            <a:ext cx="64008" cy="6858000"/>
          </a:xfrm>
          <a:prstGeom prst="rect">
            <a:avLst/>
          </a:prstGeom>
          <a:solidFill>
            <a:srgbClr val="DC2626"/>
          </a:solidFill>
          <a:ln w="12700">
            <a:solidFill>
              <a:srgbClr val="DC2626"/>
            </a:solidFill>
            <a:prstDash val="solid"/>
          </a:ln>
        </p:spPr>
      </p:sp>
      <p:sp>
        <p:nvSpPr>
          <p:cNvPr id="4" name="Text 2"/>
          <p:cNvSpPr/>
          <p:nvPr/>
        </p:nvSpPr>
        <p:spPr>
          <a:xfrm>
            <a:off x="274320" y="502920"/>
            <a:ext cx="4206240" cy="274320"/>
          </a:xfrm>
          <a:prstGeom prst="rect">
            <a:avLst/>
          </a:prstGeom>
          <a:noFill/>
          <a:ln/>
        </p:spPr>
        <p:txBody>
          <a:bodyPr wrap="square" rtlCol="0" anchor="ctr"/>
          <a:lstStyle/>
          <a:p>
            <a:pPr indent="0" marL="0">
              <a:buNone/>
            </a:pPr>
            <a:r>
              <a:rPr lang="en-US" sz="900" b="1" spc="150" kern="0" dirty="0">
                <a:solidFill>
                  <a:srgbClr val="DC2626"/>
                </a:solidFill>
              </a:rPr>
              <a:t>05 / ADMIN — FORM FIELDS MANAGEMENT</a:t>
            </a:r>
            <a:endParaRPr lang="en-US" sz="900" dirty="0"/>
          </a:p>
        </p:txBody>
      </p:sp>
      <p:sp>
        <p:nvSpPr>
          <p:cNvPr id="5" name="Text 3"/>
          <p:cNvSpPr/>
          <p:nvPr/>
        </p:nvSpPr>
        <p:spPr>
          <a:xfrm>
            <a:off x="274320" y="868680"/>
            <a:ext cx="4114800" cy="1097280"/>
          </a:xfrm>
          <a:prstGeom prst="rect">
            <a:avLst/>
          </a:prstGeom>
          <a:noFill/>
          <a:ln/>
        </p:spPr>
        <p:txBody>
          <a:bodyPr wrap="square" rtlCol="0" anchor="ctr"/>
          <a:lstStyle/>
          <a:p>
            <a:pPr indent="0" marL="0">
              <a:buNone/>
            </a:pPr>
            <a:r>
              <a:rPr lang="en-US" sz="2200" b="1" spc="-50" kern="0" dirty="0">
                <a:solidFill>
                  <a:srgbClr val="FFFFFF"/>
                </a:solidFill>
              </a:rPr>
              <a:t>Manage Retail Items &amp; Prices</a:t>
            </a:r>
            <a:endParaRPr lang="en-US" sz="2200" dirty="0"/>
          </a:p>
        </p:txBody>
      </p:sp>
      <p:sp>
        <p:nvSpPr>
          <p:cNvPr id="6" name="Text 4"/>
          <p:cNvSpPr/>
          <p:nvPr/>
        </p:nvSpPr>
        <p:spPr>
          <a:xfrm>
            <a:off x="274320" y="2057400"/>
            <a:ext cx="4114800" cy="1097280"/>
          </a:xfrm>
          <a:prstGeom prst="rect">
            <a:avLst/>
          </a:prstGeom>
          <a:noFill/>
          <a:ln/>
        </p:spPr>
        <p:txBody>
          <a:bodyPr wrap="square" rtlCol="0" anchor="ctr"/>
          <a:lstStyle/>
          <a:p>
            <a:pPr indent="0" marL="0">
              <a:lnSpc>
                <a:spcPct val="140000"/>
              </a:lnSpc>
              <a:buNone/>
            </a:pPr>
            <a:r>
              <a:rPr lang="en-US" sz="1100" dirty="0">
                <a:solidFill>
                  <a:srgbClr val="94A3B8"/>
                </a:solidFill>
              </a:rPr>
              <a:t>Super Admins can control the exact items shown on the requisition form — their names, unit prices, and active status. Changes take effect on the next form load.</a:t>
            </a:r>
            <a:endParaRPr lang="en-US" sz="1100" dirty="0"/>
          </a:p>
        </p:txBody>
      </p:sp>
      <p:sp>
        <p:nvSpPr>
          <p:cNvPr id="7" name="Text 5"/>
          <p:cNvSpPr/>
          <p:nvPr/>
        </p:nvSpPr>
        <p:spPr>
          <a:xfrm>
            <a:off x="274320" y="3246120"/>
            <a:ext cx="4114800" cy="3200400"/>
          </a:xfrm>
          <a:prstGeom prst="rect">
            <a:avLst/>
          </a:prstGeom>
          <a:noFill/>
          <a:ln/>
        </p:spPr>
        <p:txBody>
          <a:bodyPr wrap="square" rtlCol="0" anchor="ctr"/>
          <a:lstStyle/>
          <a:p>
            <a:pPr marL="190500" indent="-190500">
              <a:lnSpc>
                <a:spcPct val="130000"/>
              </a:lnSpc>
              <a:spcAft>
                <a:spcPts val="400"/>
              </a:spcAft>
              <a:buSzPct val="100000"/>
              <a:buFont typeface="+mj-lt"/>
              <a:buAutoNum type="arabicPeriod" startAt="1"/>
            </a:pPr>
            <a:r>
              <a:rPr lang="en-US" sz="1100" dirty="0">
                <a:solidFill>
                  <a:srgbClr val="CBD5E1"/>
                </a:solidFill>
              </a:rPr>
              <a:t>All 36 retail items listed with their current price</a:t>
            </a:r>
            <a:endParaRPr lang="en-US" sz="1100" dirty="0"/>
          </a:p>
          <a:p>
            <a:pPr marL="190500" indent="-190500">
              <a:lnSpc>
                <a:spcPct val="130000"/>
              </a:lnSpc>
              <a:spcAft>
                <a:spcPts val="400"/>
              </a:spcAft>
              <a:buSzPct val="100000"/>
              <a:buFont typeface="+mj-lt"/>
              <a:buAutoNum type="arabicPeriod" startAt="1"/>
            </a:pPr>
            <a:r>
              <a:rPr lang="en-US" sz="1100" dirty="0">
                <a:solidFill>
                  <a:srgbClr val="CBD5E1"/>
                </a:solidFill>
              </a:rPr>
              <a:t>Inline edit — change item label or price, then Save</a:t>
            </a:r>
            <a:endParaRPr lang="en-US" sz="1100" dirty="0"/>
          </a:p>
          <a:p>
            <a:pPr marL="190500" indent="-190500">
              <a:lnSpc>
                <a:spcPct val="130000"/>
              </a:lnSpc>
              <a:spcAft>
                <a:spcPts val="400"/>
              </a:spcAft>
              <a:buSzPct val="100000"/>
              <a:buFont typeface="+mj-lt"/>
              <a:buAutoNum type="arabicPeriod" startAt="1"/>
            </a:pPr>
            <a:r>
              <a:rPr lang="en-US" sz="1100" dirty="0">
                <a:solidFill>
                  <a:srgbClr val="CBD5E1"/>
                </a:solidFill>
              </a:rPr>
              <a:t>Add new items at the bottom of the list</a:t>
            </a:r>
            <a:endParaRPr lang="en-US" sz="1100" dirty="0"/>
          </a:p>
          <a:p>
            <a:pPr marL="190500" indent="-190500">
              <a:lnSpc>
                <a:spcPct val="130000"/>
              </a:lnSpc>
              <a:spcAft>
                <a:spcPts val="400"/>
              </a:spcAft>
              <a:buSzPct val="100000"/>
              <a:buFont typeface="+mj-lt"/>
              <a:buAutoNum type="arabicPeriod" startAt="1"/>
            </a:pPr>
            <a:r>
              <a:rPr lang="en-US" sz="1100" dirty="0">
                <a:solidFill>
                  <a:srgbClr val="CBD5E1"/>
                </a:solidFill>
              </a:rPr>
              <a:t>Remove items (soft-delete: marks inactive, not hard-deleted)</a:t>
            </a:r>
            <a:endParaRPr lang="en-US" sz="1100" dirty="0"/>
          </a:p>
          <a:p>
            <a:pPr marL="190500" indent="-190500">
              <a:lnSpc>
                <a:spcPct val="130000"/>
              </a:lnSpc>
              <a:spcAft>
                <a:spcPts val="400"/>
              </a:spcAft>
              <a:buSzPct val="100000"/>
              <a:buFont typeface="+mj-lt"/>
              <a:buAutoNum type="arabicPeriod" startAt="1"/>
            </a:pPr>
            <a:r>
              <a:rPr lang="en-US" sz="1100" dirty="0">
                <a:solidFill>
                  <a:srgbClr val="CBD5E1"/>
                </a:solidFill>
              </a:rPr>
              <a:t>Auto-seeded to DB on first access if table is empty</a:t>
            </a:r>
            <a:endParaRPr lang="en-US" sz="1100" dirty="0"/>
          </a:p>
          <a:p>
            <a:pPr marL="190500" indent="-190500">
              <a:lnSpc>
                <a:spcPct val="130000"/>
              </a:lnSpc>
              <a:spcAft>
                <a:spcPts val="400"/>
              </a:spcAft>
              <a:buSzPct val="100000"/>
              <a:buFont typeface="+mj-lt"/>
              <a:buAutoNum type="arabicPeriod" startAt="1"/>
            </a:pPr>
            <a:r>
              <a:rPr lang="en-US" sz="1100" dirty="0">
                <a:solidFill>
                  <a:srgbClr val="CBD5E1"/>
                </a:solidFill>
              </a:rPr>
              <a:t>Form revalidates every 5 minutes (ISR) to pick up changes</a:t>
            </a:r>
            <a:endParaRPr lang="en-US" sz="1100" dirty="0"/>
          </a:p>
        </p:txBody>
      </p:sp>
      <p:pic>
        <p:nvPicPr>
          <p:cNvPr id="8" name="Image 0" descr="/Users/hajajkhan/Downloads/RetailRequisition/presentation/screenshots/06_form_fields.png">    </p:cNvPr>
          <p:cNvPicPr>
            <a:picLocks noChangeAspect="1"/>
          </p:cNvPicPr>
          <p:nvPr/>
        </p:nvPicPr>
        <p:blipFill>
          <a:blip r:embed="rId1"/>
          <a:stretch>
            <a:fillRect/>
          </a:stretch>
        </p:blipFill>
        <p:spPr>
          <a:xfrm>
            <a:off x="4846320" y="274320"/>
            <a:ext cx="7132320" cy="6309360"/>
          </a:xfrm>
          <a:prstGeom prst="rect">
            <a:avLst/>
          </a:prstGeom>
        </p:spPr>
      </p:pic>
      <p:sp>
        <p:nvSpPr>
          <p:cNvPr id="9" name="Text 6"/>
          <p:cNvSpPr/>
          <p:nvPr/>
        </p:nvSpPr>
        <p:spPr>
          <a:xfrm>
            <a:off x="11704320" y="6492240"/>
            <a:ext cx="365760" cy="256032"/>
          </a:xfrm>
          <a:prstGeom prst="rect">
            <a:avLst/>
          </a:prstGeom>
          <a:noFill/>
          <a:ln/>
        </p:spPr>
        <p:txBody>
          <a:bodyPr wrap="square" rtlCol="0" anchor="ctr"/>
          <a:lstStyle/>
          <a:p>
            <a:pPr algn="r" indent="0" marL="0">
              <a:buNone/>
            </a:pPr>
            <a:r>
              <a:rPr lang="en-US" sz="900" dirty="0">
                <a:solidFill>
                  <a:srgbClr val="334155"/>
                </a:solidFill>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4663440" cy="6858000"/>
          </a:xfrm>
          <a:prstGeom prst="rect">
            <a:avLst/>
          </a:prstGeom>
          <a:solidFill>
            <a:srgbClr val="1E293B"/>
          </a:solidFill>
          <a:ln w="12700">
            <a:solidFill>
              <a:srgbClr val="1E293B"/>
            </a:solidFill>
            <a:prstDash val="solid"/>
          </a:ln>
        </p:spPr>
      </p:sp>
      <p:sp>
        <p:nvSpPr>
          <p:cNvPr id="3" name="Shape 1"/>
          <p:cNvSpPr/>
          <p:nvPr/>
        </p:nvSpPr>
        <p:spPr>
          <a:xfrm>
            <a:off x="0" y="0"/>
            <a:ext cx="64008" cy="6858000"/>
          </a:xfrm>
          <a:prstGeom prst="rect">
            <a:avLst/>
          </a:prstGeom>
          <a:solidFill>
            <a:srgbClr val="DC2626"/>
          </a:solidFill>
          <a:ln w="12700">
            <a:solidFill>
              <a:srgbClr val="DC2626"/>
            </a:solidFill>
            <a:prstDash val="solid"/>
          </a:ln>
        </p:spPr>
      </p:sp>
      <p:sp>
        <p:nvSpPr>
          <p:cNvPr id="4" name="Text 2"/>
          <p:cNvSpPr/>
          <p:nvPr/>
        </p:nvSpPr>
        <p:spPr>
          <a:xfrm>
            <a:off x="274320" y="502920"/>
            <a:ext cx="4206240" cy="274320"/>
          </a:xfrm>
          <a:prstGeom prst="rect">
            <a:avLst/>
          </a:prstGeom>
          <a:noFill/>
          <a:ln/>
        </p:spPr>
        <p:txBody>
          <a:bodyPr wrap="square" rtlCol="0" anchor="ctr"/>
          <a:lstStyle/>
          <a:p>
            <a:pPr indent="0" marL="0">
              <a:buNone/>
            </a:pPr>
            <a:r>
              <a:rPr lang="en-US" sz="900" b="1" spc="150" kern="0" dirty="0">
                <a:solidFill>
                  <a:srgbClr val="DC2626"/>
                </a:solidFill>
              </a:rPr>
              <a:t>06 / ADMIN — USER MANAGEMENT</a:t>
            </a:r>
            <a:endParaRPr lang="en-US" sz="900" dirty="0"/>
          </a:p>
        </p:txBody>
      </p:sp>
      <p:sp>
        <p:nvSpPr>
          <p:cNvPr id="5" name="Text 3"/>
          <p:cNvSpPr/>
          <p:nvPr/>
        </p:nvSpPr>
        <p:spPr>
          <a:xfrm>
            <a:off x="274320" y="868680"/>
            <a:ext cx="4114800" cy="1097280"/>
          </a:xfrm>
          <a:prstGeom prst="rect">
            <a:avLst/>
          </a:prstGeom>
          <a:noFill/>
          <a:ln/>
        </p:spPr>
        <p:txBody>
          <a:bodyPr wrap="square" rtlCol="0" anchor="ctr"/>
          <a:lstStyle/>
          <a:p>
            <a:pPr indent="0" marL="0">
              <a:buNone/>
            </a:pPr>
            <a:r>
              <a:rPr lang="en-US" sz="2200" b="1" spc="-50" kern="0" dirty="0">
                <a:solidFill>
                  <a:srgbClr val="FFFFFF"/>
                </a:solidFill>
              </a:rPr>
              <a:t>Create &amp; Manage Dashboard Users</a:t>
            </a:r>
            <a:endParaRPr lang="en-US" sz="2200" dirty="0"/>
          </a:p>
        </p:txBody>
      </p:sp>
      <p:sp>
        <p:nvSpPr>
          <p:cNvPr id="6" name="Text 4"/>
          <p:cNvSpPr/>
          <p:nvPr/>
        </p:nvSpPr>
        <p:spPr>
          <a:xfrm>
            <a:off x="274320" y="2057400"/>
            <a:ext cx="4114800" cy="1097280"/>
          </a:xfrm>
          <a:prstGeom prst="rect">
            <a:avLst/>
          </a:prstGeom>
          <a:noFill/>
          <a:ln/>
        </p:spPr>
        <p:txBody>
          <a:bodyPr wrap="square" rtlCol="0" anchor="ctr"/>
          <a:lstStyle/>
          <a:p>
            <a:pPr indent="0" marL="0">
              <a:lnSpc>
                <a:spcPct val="140000"/>
              </a:lnSpc>
              <a:buNone/>
            </a:pPr>
            <a:r>
              <a:rPr lang="en-US" sz="1100" dirty="0">
                <a:solidFill>
                  <a:srgbClr val="94A3B8"/>
                </a:solidFill>
              </a:rPr>
              <a:t>Super Admins have full control over who can access the dashboard. Users can be created, assigned roles and regions, and have their passwords changed at any time.</a:t>
            </a:r>
            <a:endParaRPr lang="en-US" sz="1100" dirty="0"/>
          </a:p>
        </p:txBody>
      </p:sp>
      <p:sp>
        <p:nvSpPr>
          <p:cNvPr id="7" name="Text 5"/>
          <p:cNvSpPr/>
          <p:nvPr/>
        </p:nvSpPr>
        <p:spPr>
          <a:xfrm>
            <a:off x="274320" y="3246120"/>
            <a:ext cx="4114800" cy="3200400"/>
          </a:xfrm>
          <a:prstGeom prst="rect">
            <a:avLst/>
          </a:prstGeom>
          <a:noFill/>
          <a:ln/>
        </p:spPr>
        <p:txBody>
          <a:bodyPr wrap="square" rtlCol="0" anchor="ctr"/>
          <a:lstStyle/>
          <a:p>
            <a:pPr marL="190500" indent="-190500">
              <a:lnSpc>
                <a:spcPct val="130000"/>
              </a:lnSpc>
              <a:spcAft>
                <a:spcPts val="400"/>
              </a:spcAft>
              <a:buSzPct val="100000"/>
              <a:buFont typeface="+mj-lt"/>
              <a:buAutoNum type="arabicPeriod" startAt="1"/>
            </a:pPr>
            <a:r>
              <a:rPr lang="en-US" sz="1100" dirty="0">
                <a:solidFill>
                  <a:srgbClr val="CBD5E1"/>
                </a:solidFill>
              </a:rPr>
              <a:t>Create new users with email, password, role, and region</a:t>
            </a:r>
            <a:endParaRPr lang="en-US" sz="1100" dirty="0"/>
          </a:p>
          <a:p>
            <a:pPr marL="190500" indent="-190500">
              <a:lnSpc>
                <a:spcPct val="130000"/>
              </a:lnSpc>
              <a:spcAft>
                <a:spcPts val="400"/>
              </a:spcAft>
              <a:buSzPct val="100000"/>
              <a:buFont typeface="+mj-lt"/>
              <a:buAutoNum type="arabicPeriod" startAt="1"/>
            </a:pPr>
            <a:r>
              <a:rPr lang="en-US" sz="1100" dirty="0">
                <a:solidFill>
                  <a:srgbClr val="CBD5E1"/>
                </a:solidFill>
              </a:rPr>
              <a:t>Edit email, role, and region of existing users inline</a:t>
            </a:r>
            <a:endParaRPr lang="en-US" sz="1100" dirty="0"/>
          </a:p>
          <a:p>
            <a:pPr marL="190500" indent="-190500">
              <a:lnSpc>
                <a:spcPct val="130000"/>
              </a:lnSpc>
              <a:spcAft>
                <a:spcPts val="400"/>
              </a:spcAft>
              <a:buSzPct val="100000"/>
              <a:buFont typeface="+mj-lt"/>
              <a:buAutoNum type="arabicPeriod" startAt="1"/>
            </a:pPr>
            <a:r>
              <a:rPr lang="en-US" sz="1100" dirty="0">
                <a:solidFill>
                  <a:srgbClr val="CBD5E1"/>
                </a:solidFill>
              </a:rPr>
              <a:t>Change any user's password (leave blank to keep existing)</a:t>
            </a:r>
            <a:endParaRPr lang="en-US" sz="1100" dirty="0"/>
          </a:p>
          <a:p>
            <a:pPr marL="190500" indent="-190500">
              <a:lnSpc>
                <a:spcPct val="130000"/>
              </a:lnSpc>
              <a:spcAft>
                <a:spcPts val="400"/>
              </a:spcAft>
              <a:buSzPct val="100000"/>
              <a:buFont typeface="+mj-lt"/>
              <a:buAutoNum type="arabicPeriod" startAt="1"/>
            </a:pPr>
            <a:r>
              <a:rPr lang="en-US" sz="1100" dirty="0">
                <a:solidFill>
                  <a:srgbClr val="CBD5E1"/>
                </a:solidFill>
              </a:rPr>
              <a:t>Password visibility toggle on all password fields</a:t>
            </a:r>
            <a:endParaRPr lang="en-US" sz="1100" dirty="0"/>
          </a:p>
          <a:p>
            <a:pPr marL="190500" indent="-190500">
              <a:lnSpc>
                <a:spcPct val="130000"/>
              </a:lnSpc>
              <a:spcAft>
                <a:spcPts val="400"/>
              </a:spcAft>
              <a:buSzPct val="100000"/>
              <a:buFont typeface="+mj-lt"/>
              <a:buAutoNum type="arabicPeriod" startAt="1"/>
            </a:pPr>
            <a:r>
              <a:rPr lang="en-US" sz="1100" dirty="0">
                <a:solidFill>
                  <a:srgbClr val="CBD5E1"/>
                </a:solidFill>
              </a:rPr>
              <a:t>Roles: Admin, Head, Super Admin</a:t>
            </a:r>
            <a:endParaRPr lang="en-US" sz="1100" dirty="0"/>
          </a:p>
          <a:p>
            <a:pPr marL="190500" indent="-190500">
              <a:lnSpc>
                <a:spcPct val="130000"/>
              </a:lnSpc>
              <a:spcAft>
                <a:spcPts val="400"/>
              </a:spcAft>
              <a:buSzPct val="100000"/>
              <a:buFont typeface="+mj-lt"/>
              <a:buAutoNum type="arabicPeriod" startAt="1"/>
            </a:pPr>
            <a:r>
              <a:rPr lang="en-US" sz="1100" dirty="0">
                <a:solidFill>
                  <a:srgbClr val="CBD5E1"/>
                </a:solidFill>
              </a:rPr>
              <a:t>Regions: all Pakistan regions via styled custom dropdown</a:t>
            </a:r>
            <a:endParaRPr lang="en-US" sz="1100" dirty="0"/>
          </a:p>
        </p:txBody>
      </p:sp>
      <p:pic>
        <p:nvPicPr>
          <p:cNvPr id="8" name="Image 0" descr="/Users/hajajkhan/Downloads/RetailRequisition/presentation/screenshots/07_users.png">    </p:cNvPr>
          <p:cNvPicPr>
            <a:picLocks noChangeAspect="1"/>
          </p:cNvPicPr>
          <p:nvPr/>
        </p:nvPicPr>
        <p:blipFill>
          <a:blip r:embed="rId1"/>
          <a:stretch>
            <a:fillRect/>
          </a:stretch>
        </p:blipFill>
        <p:spPr>
          <a:xfrm>
            <a:off x="4846320" y="274320"/>
            <a:ext cx="7132320" cy="6309360"/>
          </a:xfrm>
          <a:prstGeom prst="rect">
            <a:avLst/>
          </a:prstGeom>
        </p:spPr>
      </p:pic>
      <p:sp>
        <p:nvSpPr>
          <p:cNvPr id="9" name="Text 6"/>
          <p:cNvSpPr/>
          <p:nvPr/>
        </p:nvSpPr>
        <p:spPr>
          <a:xfrm>
            <a:off x="11704320" y="6492240"/>
            <a:ext cx="365760" cy="256032"/>
          </a:xfrm>
          <a:prstGeom prst="rect">
            <a:avLst/>
          </a:prstGeom>
          <a:noFill/>
          <a:ln/>
        </p:spPr>
        <p:txBody>
          <a:bodyPr wrap="square" rtlCol="0" anchor="ctr"/>
          <a:lstStyle/>
          <a:p>
            <a:pPr algn="r" indent="0" marL="0">
              <a:buNone/>
            </a:pPr>
            <a:r>
              <a:rPr lang="en-US" sz="900" dirty="0">
                <a:solidFill>
                  <a:srgbClr val="334155"/>
                </a:solidFill>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DC2626"/>
          </a:solidFill>
          <a:ln w="12700">
            <a:solidFill>
              <a:srgbClr val="DC2626"/>
            </a:solidFill>
            <a:prstDash val="solid"/>
          </a:ln>
        </p:spPr>
      </p:sp>
      <p:sp>
        <p:nvSpPr>
          <p:cNvPr id="3" name="Text 1"/>
          <p:cNvSpPr/>
          <p:nvPr/>
        </p:nvSpPr>
        <p:spPr>
          <a:xfrm>
            <a:off x="457200" y="274320"/>
            <a:ext cx="11274552" cy="594360"/>
          </a:xfrm>
          <a:prstGeom prst="rect">
            <a:avLst/>
          </a:prstGeom>
          <a:noFill/>
          <a:ln/>
        </p:spPr>
        <p:txBody>
          <a:bodyPr wrap="square" rtlCol="0" anchor="ctr"/>
          <a:lstStyle/>
          <a:p>
            <a:pPr indent="0" marL="0">
              <a:buNone/>
            </a:pPr>
            <a:r>
              <a:rPr lang="en-US" sz="2400" b="1" spc="-50" kern="0" dirty="0">
                <a:solidFill>
                  <a:srgbClr val="FFFFFF"/>
                </a:solidFill>
              </a:rPr>
              <a:t>Role-Based Access Control</a:t>
            </a:r>
            <a:endParaRPr lang="en-US" sz="2400" dirty="0"/>
          </a:p>
        </p:txBody>
      </p:sp>
      <p:sp>
        <p:nvSpPr>
          <p:cNvPr id="4" name="Shape 2"/>
          <p:cNvSpPr/>
          <p:nvPr/>
        </p:nvSpPr>
        <p:spPr>
          <a:xfrm>
            <a:off x="457200" y="1005840"/>
            <a:ext cx="3566160" cy="5577840"/>
          </a:xfrm>
          <a:prstGeom prst="roundRect">
            <a:avLst>
              <a:gd name="adj" fmla="val 3846"/>
            </a:avLst>
          </a:prstGeom>
          <a:solidFill>
            <a:srgbClr val="1A0505"/>
          </a:solidFill>
          <a:ln w="12700">
            <a:solidFill>
              <a:srgbClr val="DC2626"/>
            </a:solidFill>
            <a:prstDash val="solid"/>
          </a:ln>
        </p:spPr>
      </p:sp>
      <p:sp>
        <p:nvSpPr>
          <p:cNvPr id="5" name="Text 3"/>
          <p:cNvSpPr/>
          <p:nvPr/>
        </p:nvSpPr>
        <p:spPr>
          <a:xfrm>
            <a:off x="457200" y="1143000"/>
            <a:ext cx="3566160" cy="457200"/>
          </a:xfrm>
          <a:prstGeom prst="rect">
            <a:avLst/>
          </a:prstGeom>
          <a:noFill/>
          <a:ln/>
        </p:spPr>
        <p:txBody>
          <a:bodyPr wrap="square" rtlCol="0" anchor="ctr"/>
          <a:lstStyle/>
          <a:p>
            <a:pPr algn="ctr" indent="0" marL="0">
              <a:buNone/>
            </a:pPr>
            <a:r>
              <a:rPr lang="en-US" sz="1600" b="1" dirty="0">
                <a:solidFill>
                  <a:srgbClr val="F87171"/>
                </a:solidFill>
              </a:rPr>
              <a:t>Super Admin</a:t>
            </a:r>
            <a:endParaRPr lang="en-US" sz="1600" dirty="0"/>
          </a:p>
        </p:txBody>
      </p:sp>
      <p:sp>
        <p:nvSpPr>
          <p:cNvPr id="6" name="Text 4"/>
          <p:cNvSpPr/>
          <p:nvPr/>
        </p:nvSpPr>
        <p:spPr>
          <a:xfrm>
            <a:off x="457200" y="1600200"/>
            <a:ext cx="3566160" cy="256032"/>
          </a:xfrm>
          <a:prstGeom prst="rect">
            <a:avLst/>
          </a:prstGeom>
          <a:noFill/>
          <a:ln/>
        </p:spPr>
        <p:txBody>
          <a:bodyPr wrap="square" rtlCol="0" anchor="ctr"/>
          <a:lstStyle/>
          <a:p>
            <a:pPr algn="ctr" indent="0" marL="0">
              <a:buNone/>
            </a:pPr>
            <a:r>
              <a:rPr lang="en-US" sz="800" b="1" spc="150" kern="0" dirty="0">
                <a:solidFill>
                  <a:srgbClr val="475569"/>
                </a:solidFill>
              </a:rPr>
              <a:t>FULL ACCESS</a:t>
            </a:r>
            <a:endParaRPr lang="en-US" sz="800" dirty="0"/>
          </a:p>
        </p:txBody>
      </p:sp>
      <p:sp>
        <p:nvSpPr>
          <p:cNvPr id="7" name="Text 5"/>
          <p:cNvSpPr/>
          <p:nvPr/>
        </p:nvSpPr>
        <p:spPr>
          <a:xfrm>
            <a:off x="640080" y="2011680"/>
            <a:ext cx="3200400" cy="457200"/>
          </a:xfrm>
          <a:prstGeom prst="rect">
            <a:avLst/>
          </a:prstGeom>
          <a:noFill/>
          <a:ln/>
        </p:spPr>
        <p:txBody>
          <a:bodyPr wrap="square" rtlCol="0" anchor="ctr"/>
          <a:lstStyle/>
          <a:p>
            <a:pPr indent="0" marL="0">
              <a:buNone/>
            </a:pPr>
            <a:r>
              <a:rPr lang="en-US" sz="1050" dirty="0">
                <a:solidFill>
                  <a:srgbClr val="CBD5E1"/>
                </a:solidFill>
              </a:rPr>
              <a:t>✓  View &amp; action ALL regions</a:t>
            </a:r>
            <a:endParaRPr lang="en-US" sz="1050" dirty="0"/>
          </a:p>
        </p:txBody>
      </p:sp>
      <p:sp>
        <p:nvSpPr>
          <p:cNvPr id="8" name="Text 6"/>
          <p:cNvSpPr/>
          <p:nvPr/>
        </p:nvSpPr>
        <p:spPr>
          <a:xfrm>
            <a:off x="640080" y="2624328"/>
            <a:ext cx="3200400" cy="457200"/>
          </a:xfrm>
          <a:prstGeom prst="rect">
            <a:avLst/>
          </a:prstGeom>
          <a:noFill/>
          <a:ln/>
        </p:spPr>
        <p:txBody>
          <a:bodyPr wrap="square" rtlCol="0" anchor="ctr"/>
          <a:lstStyle/>
          <a:p>
            <a:pPr indent="0" marL="0">
              <a:buNone/>
            </a:pPr>
            <a:r>
              <a:rPr lang="en-US" sz="1050" dirty="0">
                <a:solidFill>
                  <a:srgbClr val="CBD5E1"/>
                </a:solidFill>
              </a:rPr>
              <a:t>✓  Approve / Reject requisitions</a:t>
            </a:r>
            <a:endParaRPr lang="en-US" sz="1050" dirty="0"/>
          </a:p>
        </p:txBody>
      </p:sp>
      <p:sp>
        <p:nvSpPr>
          <p:cNvPr id="9" name="Text 7"/>
          <p:cNvSpPr/>
          <p:nvPr/>
        </p:nvSpPr>
        <p:spPr>
          <a:xfrm>
            <a:off x="640080" y="3236976"/>
            <a:ext cx="3200400" cy="457200"/>
          </a:xfrm>
          <a:prstGeom prst="rect">
            <a:avLst/>
          </a:prstGeom>
          <a:noFill/>
          <a:ln/>
        </p:spPr>
        <p:txBody>
          <a:bodyPr wrap="square" rtlCol="0" anchor="ctr"/>
          <a:lstStyle/>
          <a:p>
            <a:pPr indent="0" marL="0">
              <a:buNone/>
            </a:pPr>
            <a:r>
              <a:rPr lang="en-US" sz="1050" dirty="0">
                <a:solidFill>
                  <a:srgbClr val="CBD5E1"/>
                </a:solidFill>
              </a:rPr>
              <a:t>✓  Bulk delete any records</a:t>
            </a:r>
            <a:endParaRPr lang="en-US" sz="1050" dirty="0"/>
          </a:p>
        </p:txBody>
      </p:sp>
      <p:sp>
        <p:nvSpPr>
          <p:cNvPr id="10" name="Text 8"/>
          <p:cNvSpPr/>
          <p:nvPr/>
        </p:nvSpPr>
        <p:spPr>
          <a:xfrm>
            <a:off x="640080" y="3849624"/>
            <a:ext cx="3200400" cy="457200"/>
          </a:xfrm>
          <a:prstGeom prst="rect">
            <a:avLst/>
          </a:prstGeom>
          <a:noFill/>
          <a:ln/>
        </p:spPr>
        <p:txBody>
          <a:bodyPr wrap="square" rtlCol="0" anchor="ctr"/>
          <a:lstStyle/>
          <a:p>
            <a:pPr indent="0" marL="0">
              <a:buNone/>
            </a:pPr>
            <a:r>
              <a:rPr lang="en-US" sz="1050" dirty="0">
                <a:solidFill>
                  <a:srgbClr val="CBD5E1"/>
                </a:solidFill>
              </a:rPr>
              <a:t>✓  Print, Excel &amp; Deduction export</a:t>
            </a:r>
            <a:endParaRPr lang="en-US" sz="1050" dirty="0"/>
          </a:p>
        </p:txBody>
      </p:sp>
      <p:sp>
        <p:nvSpPr>
          <p:cNvPr id="11" name="Text 9"/>
          <p:cNvSpPr/>
          <p:nvPr/>
        </p:nvSpPr>
        <p:spPr>
          <a:xfrm>
            <a:off x="640080" y="4462272"/>
            <a:ext cx="3200400" cy="457200"/>
          </a:xfrm>
          <a:prstGeom prst="rect">
            <a:avLst/>
          </a:prstGeom>
          <a:noFill/>
          <a:ln/>
        </p:spPr>
        <p:txBody>
          <a:bodyPr wrap="square" rtlCol="0" anchor="ctr"/>
          <a:lstStyle/>
          <a:p>
            <a:pPr indent="0" marL="0">
              <a:buNone/>
            </a:pPr>
            <a:r>
              <a:rPr lang="en-US" sz="1050" dirty="0">
                <a:solidFill>
                  <a:srgbClr val="CBD5E1"/>
                </a:solidFill>
              </a:rPr>
              <a:t>✓  Manage form items &amp; prices</a:t>
            </a:r>
            <a:endParaRPr lang="en-US" sz="1050" dirty="0"/>
          </a:p>
        </p:txBody>
      </p:sp>
      <p:sp>
        <p:nvSpPr>
          <p:cNvPr id="12" name="Text 10"/>
          <p:cNvSpPr/>
          <p:nvPr/>
        </p:nvSpPr>
        <p:spPr>
          <a:xfrm>
            <a:off x="640080" y="5074920"/>
            <a:ext cx="3200400" cy="457200"/>
          </a:xfrm>
          <a:prstGeom prst="rect">
            <a:avLst/>
          </a:prstGeom>
          <a:noFill/>
          <a:ln/>
        </p:spPr>
        <p:txBody>
          <a:bodyPr wrap="square" rtlCol="0" anchor="ctr"/>
          <a:lstStyle/>
          <a:p>
            <a:pPr indent="0" marL="0">
              <a:buNone/>
            </a:pPr>
            <a:r>
              <a:rPr lang="en-US" sz="1050" dirty="0">
                <a:solidFill>
                  <a:srgbClr val="CBD5E1"/>
                </a:solidFill>
              </a:rPr>
              <a:t>✓  Create &amp; manage all users</a:t>
            </a:r>
            <a:endParaRPr lang="en-US" sz="1050" dirty="0"/>
          </a:p>
        </p:txBody>
      </p:sp>
      <p:sp>
        <p:nvSpPr>
          <p:cNvPr id="13" name="Text 11"/>
          <p:cNvSpPr/>
          <p:nvPr/>
        </p:nvSpPr>
        <p:spPr>
          <a:xfrm>
            <a:off x="640080" y="5687568"/>
            <a:ext cx="3200400" cy="457200"/>
          </a:xfrm>
          <a:prstGeom prst="rect">
            <a:avLst/>
          </a:prstGeom>
          <a:noFill/>
          <a:ln/>
        </p:spPr>
        <p:txBody>
          <a:bodyPr wrap="square" rtlCol="0" anchor="ctr"/>
          <a:lstStyle/>
          <a:p>
            <a:pPr indent="0" marL="0">
              <a:buNone/>
            </a:pPr>
            <a:r>
              <a:rPr lang="en-US" sz="1050" dirty="0">
                <a:solidFill>
                  <a:srgbClr val="CBD5E1"/>
                </a:solidFill>
              </a:rPr>
              <a:t>✓  Change any user password</a:t>
            </a:r>
            <a:endParaRPr lang="en-US" sz="1050" dirty="0"/>
          </a:p>
        </p:txBody>
      </p:sp>
      <p:sp>
        <p:nvSpPr>
          <p:cNvPr id="14" name="Shape 12"/>
          <p:cNvSpPr/>
          <p:nvPr/>
        </p:nvSpPr>
        <p:spPr>
          <a:xfrm>
            <a:off x="4206240" y="1005840"/>
            <a:ext cx="3566160" cy="5577840"/>
          </a:xfrm>
          <a:prstGeom prst="roundRect">
            <a:avLst>
              <a:gd name="adj" fmla="val 3846"/>
            </a:avLst>
          </a:prstGeom>
          <a:solidFill>
            <a:srgbClr val="1E293B"/>
          </a:solidFill>
          <a:ln w="12700">
            <a:solidFill>
              <a:srgbClr val="334155"/>
            </a:solidFill>
            <a:prstDash val="solid"/>
          </a:ln>
        </p:spPr>
      </p:sp>
      <p:sp>
        <p:nvSpPr>
          <p:cNvPr id="15" name="Text 13"/>
          <p:cNvSpPr/>
          <p:nvPr/>
        </p:nvSpPr>
        <p:spPr>
          <a:xfrm>
            <a:off x="4206240" y="1143000"/>
            <a:ext cx="3566160" cy="457200"/>
          </a:xfrm>
          <a:prstGeom prst="rect">
            <a:avLst/>
          </a:prstGeom>
          <a:noFill/>
          <a:ln/>
        </p:spPr>
        <p:txBody>
          <a:bodyPr wrap="square" rtlCol="0" anchor="ctr"/>
          <a:lstStyle/>
          <a:p>
            <a:pPr algn="ctr" indent="0" marL="0">
              <a:buNone/>
            </a:pPr>
            <a:r>
              <a:rPr lang="en-US" sz="1600" b="1" dirty="0">
                <a:solidFill>
                  <a:srgbClr val="FFFFFF"/>
                </a:solidFill>
              </a:rPr>
              <a:t>Head</a:t>
            </a:r>
            <a:endParaRPr lang="en-US" sz="1600" dirty="0"/>
          </a:p>
        </p:txBody>
      </p:sp>
      <p:sp>
        <p:nvSpPr>
          <p:cNvPr id="16" name="Text 14"/>
          <p:cNvSpPr/>
          <p:nvPr/>
        </p:nvSpPr>
        <p:spPr>
          <a:xfrm>
            <a:off x="4206240" y="1600200"/>
            <a:ext cx="3566160" cy="256032"/>
          </a:xfrm>
          <a:prstGeom prst="rect">
            <a:avLst/>
          </a:prstGeom>
          <a:noFill/>
          <a:ln/>
        </p:spPr>
        <p:txBody>
          <a:bodyPr wrap="square" rtlCol="0" anchor="ctr"/>
          <a:lstStyle/>
          <a:p>
            <a:pPr algn="ctr" indent="0" marL="0">
              <a:buNone/>
            </a:pPr>
            <a:r>
              <a:rPr lang="en-US" sz="800" b="1" spc="150" kern="0" dirty="0">
                <a:solidFill>
                  <a:srgbClr val="475569"/>
                </a:solidFill>
              </a:rPr>
              <a:t>REGIONAL MANAGER</a:t>
            </a:r>
            <a:endParaRPr lang="en-US" sz="800" dirty="0"/>
          </a:p>
        </p:txBody>
      </p:sp>
      <p:sp>
        <p:nvSpPr>
          <p:cNvPr id="17" name="Text 15"/>
          <p:cNvSpPr/>
          <p:nvPr/>
        </p:nvSpPr>
        <p:spPr>
          <a:xfrm>
            <a:off x="4389120" y="2011680"/>
            <a:ext cx="3200400" cy="457200"/>
          </a:xfrm>
          <a:prstGeom prst="rect">
            <a:avLst/>
          </a:prstGeom>
          <a:noFill/>
          <a:ln/>
        </p:spPr>
        <p:txBody>
          <a:bodyPr wrap="square" rtlCol="0" anchor="ctr"/>
          <a:lstStyle/>
          <a:p>
            <a:pPr indent="0" marL="0">
              <a:buNone/>
            </a:pPr>
            <a:r>
              <a:rPr lang="en-US" sz="1050" dirty="0">
                <a:solidFill>
                  <a:srgbClr val="CBD5E1"/>
                </a:solidFill>
              </a:rPr>
              <a:t>✓  View own-region records only</a:t>
            </a:r>
            <a:endParaRPr lang="en-US" sz="1050" dirty="0"/>
          </a:p>
        </p:txBody>
      </p:sp>
      <p:sp>
        <p:nvSpPr>
          <p:cNvPr id="18" name="Text 16"/>
          <p:cNvSpPr/>
          <p:nvPr/>
        </p:nvSpPr>
        <p:spPr>
          <a:xfrm>
            <a:off x="4389120" y="2624328"/>
            <a:ext cx="3200400" cy="457200"/>
          </a:xfrm>
          <a:prstGeom prst="rect">
            <a:avLst/>
          </a:prstGeom>
          <a:noFill/>
          <a:ln/>
        </p:spPr>
        <p:txBody>
          <a:bodyPr wrap="square" rtlCol="0" anchor="ctr"/>
          <a:lstStyle/>
          <a:p>
            <a:pPr indent="0" marL="0">
              <a:buNone/>
            </a:pPr>
            <a:r>
              <a:rPr lang="en-US" sz="1050" dirty="0">
                <a:solidFill>
                  <a:srgbClr val="CBD5E1"/>
                </a:solidFill>
              </a:rPr>
              <a:t>✓  Approve / Reject requisitions</a:t>
            </a:r>
            <a:endParaRPr lang="en-US" sz="1050" dirty="0"/>
          </a:p>
        </p:txBody>
      </p:sp>
      <p:sp>
        <p:nvSpPr>
          <p:cNvPr id="19" name="Text 17"/>
          <p:cNvSpPr/>
          <p:nvPr/>
        </p:nvSpPr>
        <p:spPr>
          <a:xfrm>
            <a:off x="4389120" y="3236976"/>
            <a:ext cx="3200400" cy="457200"/>
          </a:xfrm>
          <a:prstGeom prst="rect">
            <a:avLst/>
          </a:prstGeom>
          <a:noFill/>
          <a:ln/>
        </p:spPr>
        <p:txBody>
          <a:bodyPr wrap="square" rtlCol="0" anchor="ctr"/>
          <a:lstStyle/>
          <a:p>
            <a:pPr indent="0" marL="0">
              <a:buNone/>
            </a:pPr>
            <a:r>
              <a:rPr lang="en-US" sz="1050" dirty="0">
                <a:solidFill>
                  <a:srgbClr val="CBD5E1"/>
                </a:solidFill>
              </a:rPr>
              <a:t>✓  Bulk delete own-region records</a:t>
            </a:r>
            <a:endParaRPr lang="en-US" sz="1050" dirty="0"/>
          </a:p>
        </p:txBody>
      </p:sp>
      <p:sp>
        <p:nvSpPr>
          <p:cNvPr id="20" name="Text 18"/>
          <p:cNvSpPr/>
          <p:nvPr/>
        </p:nvSpPr>
        <p:spPr>
          <a:xfrm>
            <a:off x="4389120" y="3849624"/>
            <a:ext cx="3200400" cy="457200"/>
          </a:xfrm>
          <a:prstGeom prst="rect">
            <a:avLst/>
          </a:prstGeom>
          <a:noFill/>
          <a:ln/>
        </p:spPr>
        <p:txBody>
          <a:bodyPr wrap="square" rtlCol="0" anchor="ctr"/>
          <a:lstStyle/>
          <a:p>
            <a:pPr indent="0" marL="0">
              <a:buNone/>
            </a:pPr>
            <a:r>
              <a:rPr lang="en-US" sz="1050" dirty="0">
                <a:solidFill>
                  <a:srgbClr val="CBD5E1"/>
                </a:solidFill>
              </a:rPr>
              <a:t>✓  Print, Excel &amp; Deduction export</a:t>
            </a:r>
            <a:endParaRPr lang="en-US" sz="1050" dirty="0"/>
          </a:p>
        </p:txBody>
      </p:sp>
      <p:sp>
        <p:nvSpPr>
          <p:cNvPr id="21" name="Text 19"/>
          <p:cNvSpPr/>
          <p:nvPr/>
        </p:nvSpPr>
        <p:spPr>
          <a:xfrm>
            <a:off x="4389120" y="4462272"/>
            <a:ext cx="3200400" cy="457200"/>
          </a:xfrm>
          <a:prstGeom prst="rect">
            <a:avLst/>
          </a:prstGeom>
          <a:noFill/>
          <a:ln/>
        </p:spPr>
        <p:txBody>
          <a:bodyPr wrap="square" rtlCol="0" anchor="ctr"/>
          <a:lstStyle/>
          <a:p>
            <a:pPr indent="0" marL="0">
              <a:buNone/>
            </a:pPr>
            <a:r>
              <a:rPr lang="en-US" sz="1050" dirty="0">
                <a:solidFill>
                  <a:srgbClr val="475569"/>
                </a:solidFill>
              </a:rPr>
              <a:t>✗  Manage form items &amp; prices</a:t>
            </a:r>
            <a:endParaRPr lang="en-US" sz="1050" dirty="0"/>
          </a:p>
        </p:txBody>
      </p:sp>
      <p:sp>
        <p:nvSpPr>
          <p:cNvPr id="22" name="Text 20"/>
          <p:cNvSpPr/>
          <p:nvPr/>
        </p:nvSpPr>
        <p:spPr>
          <a:xfrm>
            <a:off x="4389120" y="5074920"/>
            <a:ext cx="3200400" cy="457200"/>
          </a:xfrm>
          <a:prstGeom prst="rect">
            <a:avLst/>
          </a:prstGeom>
          <a:noFill/>
          <a:ln/>
        </p:spPr>
        <p:txBody>
          <a:bodyPr wrap="square" rtlCol="0" anchor="ctr"/>
          <a:lstStyle/>
          <a:p>
            <a:pPr indent="0" marL="0">
              <a:buNone/>
            </a:pPr>
            <a:r>
              <a:rPr lang="en-US" sz="1050" dirty="0">
                <a:solidFill>
                  <a:srgbClr val="475569"/>
                </a:solidFill>
              </a:rPr>
              <a:t>✗  Create &amp; manage users</a:t>
            </a:r>
            <a:endParaRPr lang="en-US" sz="1050" dirty="0"/>
          </a:p>
        </p:txBody>
      </p:sp>
      <p:sp>
        <p:nvSpPr>
          <p:cNvPr id="23" name="Text 21"/>
          <p:cNvSpPr/>
          <p:nvPr/>
        </p:nvSpPr>
        <p:spPr>
          <a:xfrm>
            <a:off x="4389120" y="5687568"/>
            <a:ext cx="3200400" cy="457200"/>
          </a:xfrm>
          <a:prstGeom prst="rect">
            <a:avLst/>
          </a:prstGeom>
          <a:noFill/>
          <a:ln/>
        </p:spPr>
        <p:txBody>
          <a:bodyPr wrap="square" rtlCol="0" anchor="ctr"/>
          <a:lstStyle/>
          <a:p>
            <a:pPr indent="0" marL="0">
              <a:buNone/>
            </a:pPr>
            <a:r>
              <a:rPr lang="en-US" sz="1050" dirty="0">
                <a:solidFill>
                  <a:srgbClr val="475569"/>
                </a:solidFill>
              </a:rPr>
              <a:t>✗  Change user passwords</a:t>
            </a:r>
            <a:endParaRPr lang="en-US" sz="1050" dirty="0"/>
          </a:p>
        </p:txBody>
      </p:sp>
      <p:sp>
        <p:nvSpPr>
          <p:cNvPr id="24" name="Shape 22"/>
          <p:cNvSpPr/>
          <p:nvPr/>
        </p:nvSpPr>
        <p:spPr>
          <a:xfrm>
            <a:off x="7955280" y="1005840"/>
            <a:ext cx="3566160" cy="5577840"/>
          </a:xfrm>
          <a:prstGeom prst="roundRect">
            <a:avLst>
              <a:gd name="adj" fmla="val 3846"/>
            </a:avLst>
          </a:prstGeom>
          <a:solidFill>
            <a:srgbClr val="1E293B"/>
          </a:solidFill>
          <a:ln w="12700">
            <a:solidFill>
              <a:srgbClr val="334155"/>
            </a:solidFill>
            <a:prstDash val="solid"/>
          </a:ln>
        </p:spPr>
      </p:sp>
      <p:sp>
        <p:nvSpPr>
          <p:cNvPr id="25" name="Text 23"/>
          <p:cNvSpPr/>
          <p:nvPr/>
        </p:nvSpPr>
        <p:spPr>
          <a:xfrm>
            <a:off x="7955280" y="1143000"/>
            <a:ext cx="3566160" cy="457200"/>
          </a:xfrm>
          <a:prstGeom prst="rect">
            <a:avLst/>
          </a:prstGeom>
          <a:noFill/>
          <a:ln/>
        </p:spPr>
        <p:txBody>
          <a:bodyPr wrap="square" rtlCol="0" anchor="ctr"/>
          <a:lstStyle/>
          <a:p>
            <a:pPr algn="ctr" indent="0" marL="0">
              <a:buNone/>
            </a:pPr>
            <a:r>
              <a:rPr lang="en-US" sz="1600" b="1" dirty="0">
                <a:solidFill>
                  <a:srgbClr val="FFFFFF"/>
                </a:solidFill>
              </a:rPr>
              <a:t>Admin</a:t>
            </a:r>
            <a:endParaRPr lang="en-US" sz="1600" dirty="0"/>
          </a:p>
        </p:txBody>
      </p:sp>
      <p:sp>
        <p:nvSpPr>
          <p:cNvPr id="26" name="Text 24"/>
          <p:cNvSpPr/>
          <p:nvPr/>
        </p:nvSpPr>
        <p:spPr>
          <a:xfrm>
            <a:off x="7955280" y="1600200"/>
            <a:ext cx="3566160" cy="256032"/>
          </a:xfrm>
          <a:prstGeom prst="rect">
            <a:avLst/>
          </a:prstGeom>
          <a:noFill/>
          <a:ln/>
        </p:spPr>
        <p:txBody>
          <a:bodyPr wrap="square" rtlCol="0" anchor="ctr"/>
          <a:lstStyle/>
          <a:p>
            <a:pPr algn="ctr" indent="0" marL="0">
              <a:buNone/>
            </a:pPr>
            <a:r>
              <a:rPr lang="en-US" sz="800" b="1" spc="150" kern="0" dirty="0">
                <a:solidFill>
                  <a:srgbClr val="475569"/>
                </a:solidFill>
              </a:rPr>
              <a:t>REVIEWER</a:t>
            </a:r>
            <a:endParaRPr lang="en-US" sz="800" dirty="0"/>
          </a:p>
        </p:txBody>
      </p:sp>
      <p:sp>
        <p:nvSpPr>
          <p:cNvPr id="27" name="Text 25"/>
          <p:cNvSpPr/>
          <p:nvPr/>
        </p:nvSpPr>
        <p:spPr>
          <a:xfrm>
            <a:off x="8138160" y="2011680"/>
            <a:ext cx="3200400" cy="457200"/>
          </a:xfrm>
          <a:prstGeom prst="rect">
            <a:avLst/>
          </a:prstGeom>
          <a:noFill/>
          <a:ln/>
        </p:spPr>
        <p:txBody>
          <a:bodyPr wrap="square" rtlCol="0" anchor="ctr"/>
          <a:lstStyle/>
          <a:p>
            <a:pPr indent="0" marL="0">
              <a:buNone/>
            </a:pPr>
            <a:r>
              <a:rPr lang="en-US" sz="1050" dirty="0">
                <a:solidFill>
                  <a:srgbClr val="CBD5E1"/>
                </a:solidFill>
              </a:rPr>
              <a:t>✓  View own-region records only</a:t>
            </a:r>
            <a:endParaRPr lang="en-US" sz="1050" dirty="0"/>
          </a:p>
        </p:txBody>
      </p:sp>
      <p:sp>
        <p:nvSpPr>
          <p:cNvPr id="28" name="Text 26"/>
          <p:cNvSpPr/>
          <p:nvPr/>
        </p:nvSpPr>
        <p:spPr>
          <a:xfrm>
            <a:off x="8138160" y="2624328"/>
            <a:ext cx="3200400" cy="457200"/>
          </a:xfrm>
          <a:prstGeom prst="rect">
            <a:avLst/>
          </a:prstGeom>
          <a:noFill/>
          <a:ln/>
        </p:spPr>
        <p:txBody>
          <a:bodyPr wrap="square" rtlCol="0" anchor="ctr"/>
          <a:lstStyle/>
          <a:p>
            <a:pPr indent="0" marL="0">
              <a:buNone/>
            </a:pPr>
            <a:r>
              <a:rPr lang="en-US" sz="1050" dirty="0">
                <a:solidFill>
                  <a:srgbClr val="CBD5E1"/>
                </a:solidFill>
              </a:rPr>
              <a:t>✓  Approve / Reject requisitions</a:t>
            </a:r>
            <a:endParaRPr lang="en-US" sz="1050" dirty="0"/>
          </a:p>
        </p:txBody>
      </p:sp>
      <p:sp>
        <p:nvSpPr>
          <p:cNvPr id="29" name="Text 27"/>
          <p:cNvSpPr/>
          <p:nvPr/>
        </p:nvSpPr>
        <p:spPr>
          <a:xfrm>
            <a:off x="8138160" y="3236976"/>
            <a:ext cx="3200400" cy="457200"/>
          </a:xfrm>
          <a:prstGeom prst="rect">
            <a:avLst/>
          </a:prstGeom>
          <a:noFill/>
          <a:ln/>
        </p:spPr>
        <p:txBody>
          <a:bodyPr wrap="square" rtlCol="0" anchor="ctr"/>
          <a:lstStyle/>
          <a:p>
            <a:pPr indent="0" marL="0">
              <a:buNone/>
            </a:pPr>
            <a:r>
              <a:rPr lang="en-US" sz="1050" dirty="0">
                <a:solidFill>
                  <a:srgbClr val="475569"/>
                </a:solidFill>
              </a:rPr>
              <a:t>✗  Delete records</a:t>
            </a:r>
            <a:endParaRPr lang="en-US" sz="1050" dirty="0"/>
          </a:p>
        </p:txBody>
      </p:sp>
      <p:sp>
        <p:nvSpPr>
          <p:cNvPr id="30" name="Text 28"/>
          <p:cNvSpPr/>
          <p:nvPr/>
        </p:nvSpPr>
        <p:spPr>
          <a:xfrm>
            <a:off x="8138160" y="3849624"/>
            <a:ext cx="3200400" cy="457200"/>
          </a:xfrm>
          <a:prstGeom prst="rect">
            <a:avLst/>
          </a:prstGeom>
          <a:noFill/>
          <a:ln/>
        </p:spPr>
        <p:txBody>
          <a:bodyPr wrap="square" rtlCol="0" anchor="ctr"/>
          <a:lstStyle/>
          <a:p>
            <a:pPr indent="0" marL="0">
              <a:buNone/>
            </a:pPr>
            <a:r>
              <a:rPr lang="en-US" sz="1050" dirty="0">
                <a:solidFill>
                  <a:srgbClr val="CBD5E1"/>
                </a:solidFill>
              </a:rPr>
              <a:t>✓  Print &amp; Excel export</a:t>
            </a:r>
            <a:endParaRPr lang="en-US" sz="1050" dirty="0"/>
          </a:p>
        </p:txBody>
      </p:sp>
      <p:sp>
        <p:nvSpPr>
          <p:cNvPr id="31" name="Text 29"/>
          <p:cNvSpPr/>
          <p:nvPr/>
        </p:nvSpPr>
        <p:spPr>
          <a:xfrm>
            <a:off x="8138160" y="4462272"/>
            <a:ext cx="3200400" cy="457200"/>
          </a:xfrm>
          <a:prstGeom prst="rect">
            <a:avLst/>
          </a:prstGeom>
          <a:noFill/>
          <a:ln/>
        </p:spPr>
        <p:txBody>
          <a:bodyPr wrap="square" rtlCol="0" anchor="ctr"/>
          <a:lstStyle/>
          <a:p>
            <a:pPr indent="0" marL="0">
              <a:buNone/>
            </a:pPr>
            <a:r>
              <a:rPr lang="en-US" sz="1050" dirty="0">
                <a:solidFill>
                  <a:srgbClr val="475569"/>
                </a:solidFill>
              </a:rPr>
              <a:t>✗  Manage form items &amp; prices</a:t>
            </a:r>
            <a:endParaRPr lang="en-US" sz="1050" dirty="0"/>
          </a:p>
        </p:txBody>
      </p:sp>
      <p:sp>
        <p:nvSpPr>
          <p:cNvPr id="32" name="Text 30"/>
          <p:cNvSpPr/>
          <p:nvPr/>
        </p:nvSpPr>
        <p:spPr>
          <a:xfrm>
            <a:off x="8138160" y="5074920"/>
            <a:ext cx="3200400" cy="457200"/>
          </a:xfrm>
          <a:prstGeom prst="rect">
            <a:avLst/>
          </a:prstGeom>
          <a:noFill/>
          <a:ln/>
        </p:spPr>
        <p:txBody>
          <a:bodyPr wrap="square" rtlCol="0" anchor="ctr"/>
          <a:lstStyle/>
          <a:p>
            <a:pPr indent="0" marL="0">
              <a:buNone/>
            </a:pPr>
            <a:r>
              <a:rPr lang="en-US" sz="1050" dirty="0">
                <a:solidFill>
                  <a:srgbClr val="475569"/>
                </a:solidFill>
              </a:rPr>
              <a:t>✗  Create &amp; manage users</a:t>
            </a:r>
            <a:endParaRPr lang="en-US" sz="1050" dirty="0"/>
          </a:p>
        </p:txBody>
      </p:sp>
      <p:sp>
        <p:nvSpPr>
          <p:cNvPr id="33" name="Text 31"/>
          <p:cNvSpPr/>
          <p:nvPr/>
        </p:nvSpPr>
        <p:spPr>
          <a:xfrm>
            <a:off x="8138160" y="5687568"/>
            <a:ext cx="3200400" cy="457200"/>
          </a:xfrm>
          <a:prstGeom prst="rect">
            <a:avLst/>
          </a:prstGeom>
          <a:noFill/>
          <a:ln/>
        </p:spPr>
        <p:txBody>
          <a:bodyPr wrap="square" rtlCol="0" anchor="ctr"/>
          <a:lstStyle/>
          <a:p>
            <a:pPr indent="0" marL="0">
              <a:buNone/>
            </a:pPr>
            <a:r>
              <a:rPr lang="en-US" sz="1050" dirty="0">
                <a:solidFill>
                  <a:srgbClr val="475569"/>
                </a:solidFill>
              </a:rPr>
              <a:t>✗  Change user passwords</a:t>
            </a:r>
            <a:endParaRPr lang="en-US" sz="1050" dirty="0"/>
          </a:p>
        </p:txBody>
      </p:sp>
      <p:sp>
        <p:nvSpPr>
          <p:cNvPr id="34" name="Text 32"/>
          <p:cNvSpPr/>
          <p:nvPr/>
        </p:nvSpPr>
        <p:spPr>
          <a:xfrm>
            <a:off x="457200" y="6537960"/>
            <a:ext cx="11274552" cy="228600"/>
          </a:xfrm>
          <a:prstGeom prst="rect">
            <a:avLst/>
          </a:prstGeom>
          <a:noFill/>
          <a:ln/>
        </p:spPr>
        <p:txBody>
          <a:bodyPr wrap="square" rtlCol="0" anchor="ctr"/>
          <a:lstStyle/>
          <a:p>
            <a:pPr algn="ctr" indent="0" marL="0">
              <a:buNone/>
            </a:pPr>
            <a:r>
              <a:rPr lang="en-US" sz="900" dirty="0">
                <a:solidFill>
                  <a:srgbClr val="334155"/>
                </a:solidFill>
              </a:rPr>
              <a:t>Access enforced server-side on every API route via Supabase session cookies — no client-side bypass possible.</a:t>
            </a:r>
            <a:endParaRPr lang="en-US" sz="900" dirty="0"/>
          </a:p>
        </p:txBody>
      </p:sp>
      <p:sp>
        <p:nvSpPr>
          <p:cNvPr id="35" name="Text 33"/>
          <p:cNvSpPr/>
          <p:nvPr/>
        </p:nvSpPr>
        <p:spPr>
          <a:xfrm>
            <a:off x="11704320" y="6492240"/>
            <a:ext cx="365760" cy="256032"/>
          </a:xfrm>
          <a:prstGeom prst="rect">
            <a:avLst/>
          </a:prstGeom>
          <a:noFill/>
          <a:ln/>
        </p:spPr>
        <p:txBody>
          <a:bodyPr wrap="square" rtlCol="0" anchor="ctr"/>
          <a:lstStyle/>
          <a:p>
            <a:pPr algn="r" indent="0" marL="0">
              <a:buNone/>
            </a:pPr>
            <a:r>
              <a:rPr lang="en-US" sz="900" dirty="0">
                <a:solidFill>
                  <a:srgbClr val="334155"/>
                </a:solidFill>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DC2626"/>
          </a:solidFill>
          <a:ln w="12700">
            <a:solidFill>
              <a:srgbClr val="DC2626"/>
            </a:solidFill>
            <a:prstDash val="solid"/>
          </a:ln>
        </p:spPr>
      </p:sp>
      <p:sp>
        <p:nvSpPr>
          <p:cNvPr id="3" name="Text 1"/>
          <p:cNvSpPr/>
          <p:nvPr/>
        </p:nvSpPr>
        <p:spPr>
          <a:xfrm>
            <a:off x="457200" y="274320"/>
            <a:ext cx="11274552" cy="594360"/>
          </a:xfrm>
          <a:prstGeom prst="rect">
            <a:avLst/>
          </a:prstGeom>
          <a:noFill/>
          <a:ln/>
        </p:spPr>
        <p:txBody>
          <a:bodyPr wrap="square" rtlCol="0" anchor="ctr"/>
          <a:lstStyle/>
          <a:p>
            <a:pPr indent="0" marL="0">
              <a:buNone/>
            </a:pPr>
            <a:r>
              <a:rPr lang="en-US" sz="2400" b="1" spc="-50" kern="0" dirty="0">
                <a:solidFill>
                  <a:srgbClr val="FFFFFF"/>
                </a:solidFill>
              </a:rPr>
              <a:t>Technical Architecture</a:t>
            </a:r>
            <a:endParaRPr lang="en-US" sz="2400" dirty="0"/>
          </a:p>
        </p:txBody>
      </p:sp>
      <p:sp>
        <p:nvSpPr>
          <p:cNvPr id="4" name="Shape 2"/>
          <p:cNvSpPr/>
          <p:nvPr/>
        </p:nvSpPr>
        <p:spPr>
          <a:xfrm>
            <a:off x="457200" y="1051560"/>
            <a:ext cx="3566160" cy="2423160"/>
          </a:xfrm>
          <a:prstGeom prst="roundRect">
            <a:avLst>
              <a:gd name="adj" fmla="val 5283"/>
            </a:avLst>
          </a:prstGeom>
          <a:solidFill>
            <a:srgbClr val="1E293B"/>
          </a:solidFill>
          <a:ln w="12700">
            <a:solidFill>
              <a:srgbClr val="334155"/>
            </a:solidFill>
            <a:prstDash val="solid"/>
          </a:ln>
        </p:spPr>
      </p:sp>
      <p:sp>
        <p:nvSpPr>
          <p:cNvPr id="5" name="Text 3"/>
          <p:cNvSpPr/>
          <p:nvPr/>
        </p:nvSpPr>
        <p:spPr>
          <a:xfrm>
            <a:off x="640080" y="1216152"/>
            <a:ext cx="3200400" cy="457200"/>
          </a:xfrm>
          <a:prstGeom prst="rect">
            <a:avLst/>
          </a:prstGeom>
          <a:noFill/>
          <a:ln/>
        </p:spPr>
        <p:txBody>
          <a:bodyPr wrap="square" rtlCol="0" anchor="ctr"/>
          <a:lstStyle/>
          <a:p>
            <a:pPr indent="0" marL="0">
              <a:buNone/>
            </a:pPr>
            <a:r>
              <a:rPr lang="en-US" sz="1200" b="1" dirty="0">
                <a:solidFill>
                  <a:srgbClr val="FFFFFF"/>
                </a:solidFill>
              </a:rPr>
              <a:t>⚡  Next.js 16 (App Router)</a:t>
            </a:r>
            <a:endParaRPr lang="en-US" sz="1200" dirty="0"/>
          </a:p>
        </p:txBody>
      </p:sp>
      <p:sp>
        <p:nvSpPr>
          <p:cNvPr id="6" name="Text 4"/>
          <p:cNvSpPr/>
          <p:nvPr/>
        </p:nvSpPr>
        <p:spPr>
          <a:xfrm>
            <a:off x="640080" y="1737360"/>
            <a:ext cx="3200400" cy="1554480"/>
          </a:xfrm>
          <a:prstGeom prst="rect">
            <a:avLst/>
          </a:prstGeom>
          <a:noFill/>
          <a:ln/>
        </p:spPr>
        <p:txBody>
          <a:bodyPr wrap="square" rtlCol="0" anchor="ctr"/>
          <a:lstStyle/>
          <a:p>
            <a:pPr indent="0" marL="0">
              <a:lnSpc>
                <a:spcPct val="140000"/>
              </a:lnSpc>
              <a:buNone/>
            </a:pPr>
            <a:r>
              <a:rPr lang="en-US" sz="1000" dirty="0">
                <a:solidFill>
                  <a:srgbClr val="64748B"/>
                </a:solidFill>
              </a:rPr>
              <a:t>Server components for data fetching, client components for interactivity. ISR for public form (5-min cache). Route handlers for all API endpoints.</a:t>
            </a:r>
            <a:endParaRPr lang="en-US" sz="1000" dirty="0"/>
          </a:p>
        </p:txBody>
      </p:sp>
      <p:sp>
        <p:nvSpPr>
          <p:cNvPr id="7" name="Shape 5"/>
          <p:cNvSpPr/>
          <p:nvPr/>
        </p:nvSpPr>
        <p:spPr>
          <a:xfrm>
            <a:off x="4206240" y="1051560"/>
            <a:ext cx="3566160" cy="2423160"/>
          </a:xfrm>
          <a:prstGeom prst="roundRect">
            <a:avLst>
              <a:gd name="adj" fmla="val 5283"/>
            </a:avLst>
          </a:prstGeom>
          <a:solidFill>
            <a:srgbClr val="1E293B"/>
          </a:solidFill>
          <a:ln w="12700">
            <a:solidFill>
              <a:srgbClr val="334155"/>
            </a:solidFill>
            <a:prstDash val="solid"/>
          </a:ln>
        </p:spPr>
      </p:sp>
      <p:sp>
        <p:nvSpPr>
          <p:cNvPr id="8" name="Text 6"/>
          <p:cNvSpPr/>
          <p:nvPr/>
        </p:nvSpPr>
        <p:spPr>
          <a:xfrm>
            <a:off x="4389120" y="1216152"/>
            <a:ext cx="3200400" cy="457200"/>
          </a:xfrm>
          <a:prstGeom prst="rect">
            <a:avLst/>
          </a:prstGeom>
          <a:noFill/>
          <a:ln/>
        </p:spPr>
        <p:txBody>
          <a:bodyPr wrap="square" rtlCol="0" anchor="ctr"/>
          <a:lstStyle/>
          <a:p>
            <a:pPr indent="0" marL="0">
              <a:buNone/>
            </a:pPr>
            <a:r>
              <a:rPr lang="en-US" sz="1200" b="1" dirty="0">
                <a:solidFill>
                  <a:srgbClr val="FFFFFF"/>
                </a:solidFill>
              </a:rPr>
              <a:t>🗄️  Supabase PostgreSQL</a:t>
            </a:r>
            <a:endParaRPr lang="en-US" sz="1200" dirty="0"/>
          </a:p>
        </p:txBody>
      </p:sp>
      <p:sp>
        <p:nvSpPr>
          <p:cNvPr id="9" name="Text 7"/>
          <p:cNvSpPr/>
          <p:nvPr/>
        </p:nvSpPr>
        <p:spPr>
          <a:xfrm>
            <a:off x="4389120" y="1737360"/>
            <a:ext cx="3200400" cy="1554480"/>
          </a:xfrm>
          <a:prstGeom prst="rect">
            <a:avLst/>
          </a:prstGeom>
          <a:noFill/>
          <a:ln/>
        </p:spPr>
        <p:txBody>
          <a:bodyPr wrap="square" rtlCol="0" anchor="ctr"/>
          <a:lstStyle/>
          <a:p>
            <a:pPr indent="0" marL="0">
              <a:lnSpc>
                <a:spcPct val="140000"/>
              </a:lnSpc>
              <a:buNone/>
            </a:pPr>
            <a:r>
              <a:rPr lang="en-US" sz="1000" dirty="0">
                <a:solidFill>
                  <a:srgbClr val="64748B"/>
                </a:solidFill>
              </a:rPr>
              <a:t>form_submissions + form_submission_values with ON DELETE CASCADE. retail_items table for dynamic form fields. Row-Level Security on all tables.</a:t>
            </a:r>
            <a:endParaRPr lang="en-US" sz="1000" dirty="0"/>
          </a:p>
        </p:txBody>
      </p:sp>
      <p:sp>
        <p:nvSpPr>
          <p:cNvPr id="10" name="Shape 8"/>
          <p:cNvSpPr/>
          <p:nvPr/>
        </p:nvSpPr>
        <p:spPr>
          <a:xfrm>
            <a:off x="7955280" y="1051560"/>
            <a:ext cx="3566160" cy="2423160"/>
          </a:xfrm>
          <a:prstGeom prst="roundRect">
            <a:avLst>
              <a:gd name="adj" fmla="val 5283"/>
            </a:avLst>
          </a:prstGeom>
          <a:solidFill>
            <a:srgbClr val="1E293B"/>
          </a:solidFill>
          <a:ln w="12700">
            <a:solidFill>
              <a:srgbClr val="334155"/>
            </a:solidFill>
            <a:prstDash val="solid"/>
          </a:ln>
        </p:spPr>
      </p:sp>
      <p:sp>
        <p:nvSpPr>
          <p:cNvPr id="11" name="Text 9"/>
          <p:cNvSpPr/>
          <p:nvPr/>
        </p:nvSpPr>
        <p:spPr>
          <a:xfrm>
            <a:off x="8138160" y="1216152"/>
            <a:ext cx="3200400" cy="457200"/>
          </a:xfrm>
          <a:prstGeom prst="rect">
            <a:avLst/>
          </a:prstGeom>
          <a:noFill/>
          <a:ln/>
        </p:spPr>
        <p:txBody>
          <a:bodyPr wrap="square" rtlCol="0" anchor="ctr"/>
          <a:lstStyle/>
          <a:p>
            <a:pPr indent="0" marL="0">
              <a:buNone/>
            </a:pPr>
            <a:r>
              <a:rPr lang="en-US" sz="1200" b="1" dirty="0">
                <a:solidFill>
                  <a:srgbClr val="FFFFFF"/>
                </a:solidFill>
              </a:rPr>
              <a:t>🔐  Supabase Auth</a:t>
            </a:r>
            <a:endParaRPr lang="en-US" sz="1200" dirty="0"/>
          </a:p>
        </p:txBody>
      </p:sp>
      <p:sp>
        <p:nvSpPr>
          <p:cNvPr id="12" name="Text 10"/>
          <p:cNvSpPr/>
          <p:nvPr/>
        </p:nvSpPr>
        <p:spPr>
          <a:xfrm>
            <a:off x="8138160" y="1737360"/>
            <a:ext cx="3200400" cy="1554480"/>
          </a:xfrm>
          <a:prstGeom prst="rect">
            <a:avLst/>
          </a:prstGeom>
          <a:noFill/>
          <a:ln/>
        </p:spPr>
        <p:txBody>
          <a:bodyPr wrap="square" rtlCol="0" anchor="ctr"/>
          <a:lstStyle/>
          <a:p>
            <a:pPr indent="0" marL="0">
              <a:lnSpc>
                <a:spcPct val="140000"/>
              </a:lnSpc>
              <a:buNone/>
            </a:pPr>
            <a:r>
              <a:rPr lang="en-US" sz="1000" dirty="0">
                <a:solidFill>
                  <a:srgbClr val="64748B"/>
                </a:solidFill>
              </a:rPr>
              <a:t>Session-cookie authentication. Server-side session validation on every protected route and API call. Admin SDK for user creation &amp; password management.</a:t>
            </a:r>
            <a:endParaRPr lang="en-US" sz="1000" dirty="0"/>
          </a:p>
        </p:txBody>
      </p:sp>
      <p:sp>
        <p:nvSpPr>
          <p:cNvPr id="13" name="Shape 11"/>
          <p:cNvSpPr/>
          <p:nvPr/>
        </p:nvSpPr>
        <p:spPr>
          <a:xfrm>
            <a:off x="457200" y="3703320"/>
            <a:ext cx="3566160" cy="2423160"/>
          </a:xfrm>
          <a:prstGeom prst="roundRect">
            <a:avLst>
              <a:gd name="adj" fmla="val 5283"/>
            </a:avLst>
          </a:prstGeom>
          <a:solidFill>
            <a:srgbClr val="1E293B"/>
          </a:solidFill>
          <a:ln w="12700">
            <a:solidFill>
              <a:srgbClr val="334155"/>
            </a:solidFill>
            <a:prstDash val="solid"/>
          </a:ln>
        </p:spPr>
      </p:sp>
      <p:sp>
        <p:nvSpPr>
          <p:cNvPr id="14" name="Text 12"/>
          <p:cNvSpPr/>
          <p:nvPr/>
        </p:nvSpPr>
        <p:spPr>
          <a:xfrm>
            <a:off x="640080" y="3867912"/>
            <a:ext cx="3200400" cy="457200"/>
          </a:xfrm>
          <a:prstGeom prst="rect">
            <a:avLst/>
          </a:prstGeom>
          <a:noFill/>
          <a:ln/>
        </p:spPr>
        <p:txBody>
          <a:bodyPr wrap="square" rtlCol="0" anchor="ctr"/>
          <a:lstStyle/>
          <a:p>
            <a:pPr indent="0" marL="0">
              <a:buNone/>
            </a:pPr>
            <a:r>
              <a:rPr lang="en-US" sz="1200" b="1" dirty="0">
                <a:solidFill>
                  <a:srgbClr val="FFFFFF"/>
                </a:solidFill>
              </a:rPr>
              <a:t>🎨  Tailwind CSS v4</a:t>
            </a:r>
            <a:endParaRPr lang="en-US" sz="1200" dirty="0"/>
          </a:p>
        </p:txBody>
      </p:sp>
      <p:sp>
        <p:nvSpPr>
          <p:cNvPr id="15" name="Text 13"/>
          <p:cNvSpPr/>
          <p:nvPr/>
        </p:nvSpPr>
        <p:spPr>
          <a:xfrm>
            <a:off x="640080" y="4389120"/>
            <a:ext cx="3200400" cy="1554480"/>
          </a:xfrm>
          <a:prstGeom prst="rect">
            <a:avLst/>
          </a:prstGeom>
          <a:noFill/>
          <a:ln/>
        </p:spPr>
        <p:txBody>
          <a:bodyPr wrap="square" rtlCol="0" anchor="ctr"/>
          <a:lstStyle/>
          <a:p>
            <a:pPr indent="0" marL="0">
              <a:lnSpc>
                <a:spcPct val="140000"/>
              </a:lnSpc>
              <a:buNone/>
            </a:pPr>
            <a:r>
              <a:rPr lang="en-US" sz="1000" dirty="0">
                <a:solidFill>
                  <a:srgbClr val="64748B"/>
                </a:solidFill>
              </a:rPr>
              <a:t>Utility-first styling with custom CSS classes for app-select dropdowns and button variants. Fully responsive — mobile card layout &amp; desktop table.</a:t>
            </a:r>
            <a:endParaRPr lang="en-US" sz="1000" dirty="0"/>
          </a:p>
        </p:txBody>
      </p:sp>
      <p:sp>
        <p:nvSpPr>
          <p:cNvPr id="16" name="Shape 14"/>
          <p:cNvSpPr/>
          <p:nvPr/>
        </p:nvSpPr>
        <p:spPr>
          <a:xfrm>
            <a:off x="4206240" y="3703320"/>
            <a:ext cx="3566160" cy="2423160"/>
          </a:xfrm>
          <a:prstGeom prst="roundRect">
            <a:avLst>
              <a:gd name="adj" fmla="val 5283"/>
            </a:avLst>
          </a:prstGeom>
          <a:solidFill>
            <a:srgbClr val="1E293B"/>
          </a:solidFill>
          <a:ln w="12700">
            <a:solidFill>
              <a:srgbClr val="334155"/>
            </a:solidFill>
            <a:prstDash val="solid"/>
          </a:ln>
        </p:spPr>
      </p:sp>
      <p:sp>
        <p:nvSpPr>
          <p:cNvPr id="17" name="Text 15"/>
          <p:cNvSpPr/>
          <p:nvPr/>
        </p:nvSpPr>
        <p:spPr>
          <a:xfrm>
            <a:off x="4389120" y="3867912"/>
            <a:ext cx="3200400" cy="457200"/>
          </a:xfrm>
          <a:prstGeom prst="rect">
            <a:avLst/>
          </a:prstGeom>
          <a:noFill/>
          <a:ln/>
        </p:spPr>
        <p:txBody>
          <a:bodyPr wrap="square" rtlCol="0" anchor="ctr"/>
          <a:lstStyle/>
          <a:p>
            <a:pPr indent="0" marL="0">
              <a:buNone/>
            </a:pPr>
            <a:r>
              <a:rPr lang="en-US" sz="1200" b="1" dirty="0">
                <a:solidFill>
                  <a:srgbClr val="FFFFFF"/>
                </a:solidFill>
              </a:rPr>
              <a:t>📊  SheetJS (xlsx)</a:t>
            </a:r>
            <a:endParaRPr lang="en-US" sz="1200" dirty="0"/>
          </a:p>
        </p:txBody>
      </p:sp>
      <p:sp>
        <p:nvSpPr>
          <p:cNvPr id="18" name="Text 16"/>
          <p:cNvSpPr/>
          <p:nvPr/>
        </p:nvSpPr>
        <p:spPr>
          <a:xfrm>
            <a:off x="4389120" y="4389120"/>
            <a:ext cx="3200400" cy="1554480"/>
          </a:xfrm>
          <a:prstGeom prst="rect">
            <a:avLst/>
          </a:prstGeom>
          <a:noFill/>
          <a:ln/>
        </p:spPr>
        <p:txBody>
          <a:bodyPr wrap="square" rtlCol="0" anchor="ctr"/>
          <a:lstStyle/>
          <a:p>
            <a:pPr indent="0" marL="0">
              <a:lnSpc>
                <a:spcPct val="140000"/>
              </a:lnSpc>
              <a:buNone/>
            </a:pPr>
            <a:r>
              <a:rPr lang="en-US" sz="1000" dirty="0">
                <a:solidFill>
                  <a:srgbClr val="64748B"/>
                </a:solidFill>
              </a:rPr>
              <a:t>Lazy-loaded Excel workbook generation with multiple sheets — one per EMP category (SIS, Agent, Franchise, COCO) based on EMP code prefix rules.</a:t>
            </a:r>
            <a:endParaRPr lang="en-US" sz="1000" dirty="0"/>
          </a:p>
        </p:txBody>
      </p:sp>
      <p:sp>
        <p:nvSpPr>
          <p:cNvPr id="19" name="Shape 17"/>
          <p:cNvSpPr/>
          <p:nvPr/>
        </p:nvSpPr>
        <p:spPr>
          <a:xfrm>
            <a:off x="7955280" y="3703320"/>
            <a:ext cx="3566160" cy="2423160"/>
          </a:xfrm>
          <a:prstGeom prst="roundRect">
            <a:avLst>
              <a:gd name="adj" fmla="val 5283"/>
            </a:avLst>
          </a:prstGeom>
          <a:solidFill>
            <a:srgbClr val="1E293B"/>
          </a:solidFill>
          <a:ln w="12700">
            <a:solidFill>
              <a:srgbClr val="334155"/>
            </a:solidFill>
            <a:prstDash val="solid"/>
          </a:ln>
        </p:spPr>
      </p:sp>
      <p:sp>
        <p:nvSpPr>
          <p:cNvPr id="20" name="Text 18"/>
          <p:cNvSpPr/>
          <p:nvPr/>
        </p:nvSpPr>
        <p:spPr>
          <a:xfrm>
            <a:off x="8138160" y="3867912"/>
            <a:ext cx="3200400" cy="457200"/>
          </a:xfrm>
          <a:prstGeom prst="rect">
            <a:avLst/>
          </a:prstGeom>
          <a:noFill/>
          <a:ln/>
        </p:spPr>
        <p:txBody>
          <a:bodyPr wrap="square" rtlCol="0" anchor="ctr"/>
          <a:lstStyle/>
          <a:p>
            <a:pPr indent="0" marL="0">
              <a:buNone/>
            </a:pPr>
            <a:r>
              <a:rPr lang="en-US" sz="1200" b="1" dirty="0">
                <a:solidFill>
                  <a:srgbClr val="FFFFFF"/>
                </a:solidFill>
              </a:rPr>
              <a:t>🚀  Performance &amp; SEO</a:t>
            </a:r>
            <a:endParaRPr lang="en-US" sz="1200" dirty="0"/>
          </a:p>
        </p:txBody>
      </p:sp>
      <p:sp>
        <p:nvSpPr>
          <p:cNvPr id="21" name="Text 19"/>
          <p:cNvSpPr/>
          <p:nvPr/>
        </p:nvSpPr>
        <p:spPr>
          <a:xfrm>
            <a:off x="8138160" y="4389120"/>
            <a:ext cx="3200400" cy="1554480"/>
          </a:xfrm>
          <a:prstGeom prst="rect">
            <a:avLst/>
          </a:prstGeom>
          <a:noFill/>
          <a:ln/>
        </p:spPr>
        <p:txBody>
          <a:bodyPr wrap="square" rtlCol="0" anchor="ctr"/>
          <a:lstStyle/>
          <a:p>
            <a:pPr indent="0" marL="0">
              <a:lnSpc>
                <a:spcPct val="140000"/>
              </a:lnSpc>
              <a:buNone/>
            </a:pPr>
            <a:r>
              <a:rPr lang="en-US" sz="1000" dirty="0">
                <a:solidFill>
                  <a:srgbClr val="64748B"/>
                </a:solidFill>
              </a:rPr>
              <a:t>next/image with AVIF/WebP formats, ISR caching, security headers (HSTS, X-Frame-Options), sitemap.ts, robots.ts, Open Graph metadata &amp; PWA manifest.</a:t>
            </a:r>
            <a:endParaRPr lang="en-US" sz="1000" dirty="0"/>
          </a:p>
        </p:txBody>
      </p:sp>
      <p:sp>
        <p:nvSpPr>
          <p:cNvPr id="22" name="Text 20"/>
          <p:cNvSpPr/>
          <p:nvPr/>
        </p:nvSpPr>
        <p:spPr>
          <a:xfrm>
            <a:off x="11704320" y="6492240"/>
            <a:ext cx="365760" cy="256032"/>
          </a:xfrm>
          <a:prstGeom prst="rect">
            <a:avLst/>
          </a:prstGeom>
          <a:noFill/>
          <a:ln/>
        </p:spPr>
        <p:txBody>
          <a:bodyPr wrap="square" rtlCol="0" anchor="ctr"/>
          <a:lstStyle/>
          <a:p>
            <a:pPr algn="r" indent="0" marL="0">
              <a:buNone/>
            </a:pPr>
            <a:r>
              <a:rPr lang="en-US" sz="900" dirty="0">
                <a:solidFill>
                  <a:srgbClr val="334155"/>
                </a:solidFill>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DC2626"/>
          </a:solidFill>
          <a:ln w="12700">
            <a:solidFill>
              <a:srgbClr val="DC2626"/>
            </a:solidFill>
            <a:prstDash val="solid"/>
          </a:ln>
        </p:spPr>
      </p:sp>
      <p:sp>
        <p:nvSpPr>
          <p:cNvPr id="3" name="Shape 1"/>
          <p:cNvSpPr/>
          <p:nvPr/>
        </p:nvSpPr>
        <p:spPr>
          <a:xfrm>
            <a:off x="5458968" y="1188720"/>
            <a:ext cx="1280160" cy="1280160"/>
          </a:xfrm>
          <a:prstGeom prst="roundRect">
            <a:avLst>
              <a:gd name="adj" fmla="val 14286"/>
            </a:avLst>
          </a:prstGeom>
          <a:solidFill>
            <a:srgbClr val="DC2626"/>
          </a:solidFill>
          <a:ln w="12700">
            <a:solidFill>
              <a:srgbClr val="DC2626"/>
            </a:solidFill>
            <a:prstDash val="solid"/>
          </a:ln>
        </p:spPr>
      </p:sp>
      <p:sp>
        <p:nvSpPr>
          <p:cNvPr id="4" name="Text 2"/>
          <p:cNvSpPr/>
          <p:nvPr/>
        </p:nvSpPr>
        <p:spPr>
          <a:xfrm>
            <a:off x="5458968" y="1188720"/>
            <a:ext cx="1280160" cy="1280160"/>
          </a:xfrm>
          <a:prstGeom prst="rect">
            <a:avLst/>
          </a:prstGeom>
          <a:noFill/>
          <a:ln/>
        </p:spPr>
        <p:txBody>
          <a:bodyPr wrap="square" rtlCol="0" anchor="ctr"/>
          <a:lstStyle/>
          <a:p>
            <a:pPr algn="ctr" indent="0" marL="0">
              <a:buNone/>
            </a:pPr>
            <a:r>
              <a:rPr lang="en-US" sz="4800" b="1" dirty="0">
                <a:solidFill>
                  <a:srgbClr val="FFFFFF"/>
                </a:solidFill>
              </a:rPr>
              <a:t>R</a:t>
            </a:r>
            <a:endParaRPr lang="en-US" sz="4800" dirty="0"/>
          </a:p>
        </p:txBody>
      </p:sp>
      <p:sp>
        <p:nvSpPr>
          <p:cNvPr id="5" name="Text 3"/>
          <p:cNvSpPr/>
          <p:nvPr/>
        </p:nvSpPr>
        <p:spPr>
          <a:xfrm>
            <a:off x="457200" y="2697480"/>
            <a:ext cx="11274552" cy="822960"/>
          </a:xfrm>
          <a:prstGeom prst="rect">
            <a:avLst/>
          </a:prstGeom>
          <a:noFill/>
          <a:ln/>
        </p:spPr>
        <p:txBody>
          <a:bodyPr wrap="square" rtlCol="0" anchor="ctr"/>
          <a:lstStyle/>
          <a:p>
            <a:pPr algn="ctr" indent="0" marL="0">
              <a:buNone/>
            </a:pPr>
            <a:r>
              <a:rPr lang="en-US" sz="3200" b="1" spc="-50" kern="0" dirty="0">
                <a:solidFill>
                  <a:srgbClr val="FFFFFF"/>
                </a:solidFill>
              </a:rPr>
              <a:t>TCS Retail Requisition System</a:t>
            </a:r>
            <a:endParaRPr lang="en-US" sz="3200" dirty="0"/>
          </a:p>
        </p:txBody>
      </p:sp>
      <p:sp>
        <p:nvSpPr>
          <p:cNvPr id="6" name="Text 4"/>
          <p:cNvSpPr/>
          <p:nvPr/>
        </p:nvSpPr>
        <p:spPr>
          <a:xfrm>
            <a:off x="1371600" y="3657600"/>
            <a:ext cx="9445752" cy="822960"/>
          </a:xfrm>
          <a:prstGeom prst="rect">
            <a:avLst/>
          </a:prstGeom>
          <a:noFill/>
          <a:ln/>
        </p:spPr>
        <p:txBody>
          <a:bodyPr wrap="square" rtlCol="0" anchor="ctr"/>
          <a:lstStyle/>
          <a:p>
            <a:pPr algn="ctr" indent="0" marL="0">
              <a:lnSpc>
                <a:spcPct val="150000"/>
              </a:lnSpc>
              <a:buNone/>
            </a:pPr>
            <a:r>
              <a:rPr lang="en-US" sz="1400" dirty="0">
                <a:solidFill>
                  <a:srgbClr val="64748B"/>
                </a:solidFill>
              </a:rPr>
              <a:t>A fully paperless, real-time, role-controlled stock requisition</a:t>
            </a:r>
            <a:endParaRPr lang="en-US" sz="1400" dirty="0"/>
          </a:p>
          <a:p>
            <a:pPr algn="ctr" indent="0" marL="0">
              <a:lnSpc>
                <a:spcPct val="150000"/>
              </a:lnSpc>
              <a:buNone/>
            </a:pPr>
            <a:r>
              <a:rPr lang="en-US" sz="1400" dirty="0">
                <a:solidFill>
                  <a:srgbClr val="64748B"/>
                </a:solidFill>
              </a:rPr>
              <a:t>platform built for TCS Pakistan retail operations.</a:t>
            </a:r>
            <a:endParaRPr lang="en-US" sz="1400" dirty="0"/>
          </a:p>
        </p:txBody>
      </p:sp>
      <p:sp>
        <p:nvSpPr>
          <p:cNvPr id="7" name="Shape 5"/>
          <p:cNvSpPr/>
          <p:nvPr/>
        </p:nvSpPr>
        <p:spPr>
          <a:xfrm>
            <a:off x="4023360" y="4663440"/>
            <a:ext cx="4142232" cy="530352"/>
          </a:xfrm>
          <a:prstGeom prst="roundRect">
            <a:avLst>
              <a:gd name="adj" fmla="val 17241"/>
            </a:avLst>
          </a:prstGeom>
          <a:solidFill>
            <a:srgbClr val="1E293B"/>
          </a:solidFill>
          <a:ln w="12700">
            <a:solidFill>
              <a:srgbClr val="334155"/>
            </a:solidFill>
            <a:prstDash val="solid"/>
          </a:ln>
        </p:spPr>
      </p:sp>
      <p:sp>
        <p:nvSpPr>
          <p:cNvPr id="8" name="Text 6"/>
          <p:cNvSpPr/>
          <p:nvPr/>
        </p:nvSpPr>
        <p:spPr>
          <a:xfrm>
            <a:off x="4023360" y="4663440"/>
            <a:ext cx="4142232" cy="530352"/>
          </a:xfrm>
          <a:prstGeom prst="rect">
            <a:avLst/>
          </a:prstGeom>
          <a:noFill/>
          <a:ln/>
        </p:spPr>
        <p:txBody>
          <a:bodyPr wrap="square" rtlCol="0" anchor="ctr"/>
          <a:lstStyle/>
          <a:p>
            <a:pPr algn="ctr" indent="0" marL="0">
              <a:buNone/>
            </a:pPr>
            <a:r>
              <a:rPr lang="en-US" sz="1200" dirty="0">
                <a:solidFill>
                  <a:srgbClr val="94A3B8"/>
                </a:solidFill>
                <a:latin typeface="Courier New" pitchFamily="34" charset="0"/>
                <a:ea typeface="Courier New" pitchFamily="34" charset="-122"/>
                <a:cs typeface="Courier New" pitchFamily="34" charset="-120"/>
              </a:rPr>
              <a:t>localhost:3000  /  form  /  dashboard</a:t>
            </a:r>
            <a:endParaRPr lang="en-US" sz="1200" dirty="0"/>
          </a:p>
        </p:txBody>
      </p:sp>
      <p:sp>
        <p:nvSpPr>
          <p:cNvPr id="9" name="Shape 7"/>
          <p:cNvSpPr/>
          <p:nvPr/>
        </p:nvSpPr>
        <p:spPr>
          <a:xfrm>
            <a:off x="2286000" y="5440680"/>
            <a:ext cx="1828800" cy="347472"/>
          </a:xfrm>
          <a:prstGeom prst="roundRect">
            <a:avLst>
              <a:gd name="adj" fmla="val 50000"/>
            </a:avLst>
          </a:prstGeom>
          <a:solidFill>
            <a:srgbClr val="1E293B"/>
          </a:solidFill>
          <a:ln w="12700">
            <a:solidFill>
              <a:srgbClr val="334155"/>
            </a:solidFill>
            <a:prstDash val="solid"/>
          </a:ln>
        </p:spPr>
      </p:sp>
      <p:sp>
        <p:nvSpPr>
          <p:cNvPr id="10" name="Text 8"/>
          <p:cNvSpPr/>
          <p:nvPr/>
        </p:nvSpPr>
        <p:spPr>
          <a:xfrm>
            <a:off x="2286000" y="5440680"/>
            <a:ext cx="1828800" cy="347472"/>
          </a:xfrm>
          <a:prstGeom prst="rect">
            <a:avLst/>
          </a:prstGeom>
          <a:noFill/>
          <a:ln/>
        </p:spPr>
        <p:txBody>
          <a:bodyPr wrap="square" rtlCol="0" anchor="ctr"/>
          <a:lstStyle/>
          <a:p>
            <a:pPr algn="ctr" indent="0" marL="0">
              <a:buNone/>
            </a:pPr>
            <a:r>
              <a:rPr lang="en-US" sz="1000" b="1" dirty="0">
                <a:solidFill>
                  <a:srgbClr val="FCA5A5"/>
                </a:solidFill>
              </a:rPr>
              <a:t>Next.js 16</a:t>
            </a:r>
            <a:endParaRPr lang="en-US" sz="1000" dirty="0"/>
          </a:p>
        </p:txBody>
      </p:sp>
      <p:sp>
        <p:nvSpPr>
          <p:cNvPr id="11" name="Shape 9"/>
          <p:cNvSpPr/>
          <p:nvPr/>
        </p:nvSpPr>
        <p:spPr>
          <a:xfrm>
            <a:off x="4297680" y="5440680"/>
            <a:ext cx="1828800" cy="347472"/>
          </a:xfrm>
          <a:prstGeom prst="roundRect">
            <a:avLst>
              <a:gd name="adj" fmla="val 50000"/>
            </a:avLst>
          </a:prstGeom>
          <a:solidFill>
            <a:srgbClr val="1E293B"/>
          </a:solidFill>
          <a:ln w="12700">
            <a:solidFill>
              <a:srgbClr val="334155"/>
            </a:solidFill>
            <a:prstDash val="solid"/>
          </a:ln>
        </p:spPr>
      </p:sp>
      <p:sp>
        <p:nvSpPr>
          <p:cNvPr id="12" name="Text 10"/>
          <p:cNvSpPr/>
          <p:nvPr/>
        </p:nvSpPr>
        <p:spPr>
          <a:xfrm>
            <a:off x="4297680" y="5440680"/>
            <a:ext cx="1828800" cy="347472"/>
          </a:xfrm>
          <a:prstGeom prst="rect">
            <a:avLst/>
          </a:prstGeom>
          <a:noFill/>
          <a:ln/>
        </p:spPr>
        <p:txBody>
          <a:bodyPr wrap="square" rtlCol="0" anchor="ctr"/>
          <a:lstStyle/>
          <a:p>
            <a:pPr algn="ctr" indent="0" marL="0">
              <a:buNone/>
            </a:pPr>
            <a:r>
              <a:rPr lang="en-US" sz="1000" b="1" dirty="0">
                <a:solidFill>
                  <a:srgbClr val="FCA5A5"/>
                </a:solidFill>
              </a:rPr>
              <a:t>Supabase</a:t>
            </a:r>
            <a:endParaRPr lang="en-US" sz="1000" dirty="0"/>
          </a:p>
        </p:txBody>
      </p:sp>
      <p:sp>
        <p:nvSpPr>
          <p:cNvPr id="13" name="Shape 11"/>
          <p:cNvSpPr/>
          <p:nvPr/>
        </p:nvSpPr>
        <p:spPr>
          <a:xfrm>
            <a:off x="6309360" y="5440680"/>
            <a:ext cx="1828800" cy="347472"/>
          </a:xfrm>
          <a:prstGeom prst="roundRect">
            <a:avLst>
              <a:gd name="adj" fmla="val 50000"/>
            </a:avLst>
          </a:prstGeom>
          <a:solidFill>
            <a:srgbClr val="1E293B"/>
          </a:solidFill>
          <a:ln w="12700">
            <a:solidFill>
              <a:srgbClr val="334155"/>
            </a:solidFill>
            <a:prstDash val="solid"/>
          </a:ln>
        </p:spPr>
      </p:sp>
      <p:sp>
        <p:nvSpPr>
          <p:cNvPr id="14" name="Text 12"/>
          <p:cNvSpPr/>
          <p:nvPr/>
        </p:nvSpPr>
        <p:spPr>
          <a:xfrm>
            <a:off x="6309360" y="5440680"/>
            <a:ext cx="1828800" cy="347472"/>
          </a:xfrm>
          <a:prstGeom prst="rect">
            <a:avLst/>
          </a:prstGeom>
          <a:noFill/>
          <a:ln/>
        </p:spPr>
        <p:txBody>
          <a:bodyPr wrap="square" rtlCol="0" anchor="ctr"/>
          <a:lstStyle/>
          <a:p>
            <a:pPr algn="ctr" indent="0" marL="0">
              <a:buNone/>
            </a:pPr>
            <a:r>
              <a:rPr lang="en-US" sz="1000" b="1" dirty="0">
                <a:solidFill>
                  <a:srgbClr val="FCA5A5"/>
                </a:solidFill>
              </a:rPr>
              <a:t>TypeScript</a:t>
            </a:r>
            <a:endParaRPr lang="en-US" sz="1000" dirty="0"/>
          </a:p>
        </p:txBody>
      </p:sp>
      <p:sp>
        <p:nvSpPr>
          <p:cNvPr id="15" name="Shape 13"/>
          <p:cNvSpPr/>
          <p:nvPr/>
        </p:nvSpPr>
        <p:spPr>
          <a:xfrm>
            <a:off x="8321040" y="5440680"/>
            <a:ext cx="1828800" cy="347472"/>
          </a:xfrm>
          <a:prstGeom prst="roundRect">
            <a:avLst>
              <a:gd name="adj" fmla="val 50000"/>
            </a:avLst>
          </a:prstGeom>
          <a:solidFill>
            <a:srgbClr val="1E293B"/>
          </a:solidFill>
          <a:ln w="12700">
            <a:solidFill>
              <a:srgbClr val="334155"/>
            </a:solidFill>
            <a:prstDash val="solid"/>
          </a:ln>
        </p:spPr>
      </p:sp>
      <p:sp>
        <p:nvSpPr>
          <p:cNvPr id="16" name="Text 14"/>
          <p:cNvSpPr/>
          <p:nvPr/>
        </p:nvSpPr>
        <p:spPr>
          <a:xfrm>
            <a:off x="8321040" y="5440680"/>
            <a:ext cx="1828800" cy="347472"/>
          </a:xfrm>
          <a:prstGeom prst="rect">
            <a:avLst/>
          </a:prstGeom>
          <a:noFill/>
          <a:ln/>
        </p:spPr>
        <p:txBody>
          <a:bodyPr wrap="square" rtlCol="0" anchor="ctr"/>
          <a:lstStyle/>
          <a:p>
            <a:pPr algn="ctr" indent="0" marL="0">
              <a:buNone/>
            </a:pPr>
            <a:r>
              <a:rPr lang="en-US" sz="1000" b="1" dirty="0">
                <a:solidFill>
                  <a:srgbClr val="FCA5A5"/>
                </a:solidFill>
              </a:rPr>
              <a:t>Tailwind CSS</a:t>
            </a:r>
            <a:endParaRPr lang="en-US" sz="1000" dirty="0"/>
          </a:p>
        </p:txBody>
      </p:sp>
      <p:sp>
        <p:nvSpPr>
          <p:cNvPr id="17" name="Text 15"/>
          <p:cNvSpPr/>
          <p:nvPr/>
        </p:nvSpPr>
        <p:spPr>
          <a:xfrm>
            <a:off x="457200" y="6080760"/>
            <a:ext cx="11274552" cy="411480"/>
          </a:xfrm>
          <a:prstGeom prst="rect">
            <a:avLst/>
          </a:prstGeom>
          <a:noFill/>
          <a:ln/>
        </p:spPr>
        <p:txBody>
          <a:bodyPr wrap="square" rtlCol="0" anchor="ctr"/>
          <a:lstStyle/>
          <a:p>
            <a:pPr algn="ctr" indent="0" marL="0">
              <a:buNone/>
            </a:pPr>
            <a:r>
              <a:rPr lang="en-US" sz="1100" spc="400" kern="0" dirty="0">
                <a:solidFill>
                  <a:srgbClr val="334155"/>
                </a:solidFill>
              </a:rPr>
              <a:t>Thank You</a:t>
            </a:r>
            <a:endParaRPr lang="en-US" sz="1100" dirty="0"/>
          </a:p>
        </p:txBody>
      </p:sp>
      <p:sp>
        <p:nvSpPr>
          <p:cNvPr id="18" name="Text 16"/>
          <p:cNvSpPr/>
          <p:nvPr/>
        </p:nvSpPr>
        <p:spPr>
          <a:xfrm>
            <a:off x="11704320" y="6492240"/>
            <a:ext cx="365760" cy="256032"/>
          </a:xfrm>
          <a:prstGeom prst="rect">
            <a:avLst/>
          </a:prstGeom>
          <a:noFill/>
          <a:ln/>
        </p:spPr>
        <p:txBody>
          <a:bodyPr wrap="square" rtlCol="0" anchor="ctr"/>
          <a:lstStyle/>
          <a:p>
            <a:pPr algn="r" indent="0" marL="0">
              <a:buNone/>
            </a:pPr>
            <a:r>
              <a:rPr lang="en-US" sz="900" dirty="0">
                <a:solidFill>
                  <a:srgbClr val="334155"/>
                </a:solidFill>
              </a:rPr>
              <a:t>17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2026-05-12T10:58:11Z</dcterms:created>
  <dcterms:modified xsi:type="dcterms:W3CDTF">2026-05-12T10:58:11Z</dcterms:modified>
</cp:coreProperties>
</file>